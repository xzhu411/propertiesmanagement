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going to walk through a residential AM module I built as an extension to Plaza's existing CRE platform. Total time including demo is about 10 minutes. Let me start with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Plaza is already a strong platform for PE real estate operations — asset management, debt monitoring, investor reporting, all in one place. But there's a workflow that happens before any of that: deciding who gets into the portfolio. Tenant screening. Right now that decision is made offline — Excel, background check PDFs, gut feel. A bad placement costs $3,500 to $8,000 in eviction plus 30 to 90 days of vacancy. At portfolio scale with normal turnover, that's hundreds of thousands of dollars of preventable NOI loss per year. This is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 has two parts. The portfolio dashboard gives a real-time view of the residential portfolio — same mental model as Plaza's CRE dashboard but tuned for multifamily KPIs. The right side is the main feature: AI tenant screening. What makes it different from a wrapper around an LLM is the two-layer architecture. The financial math — vacancy probability, eviction probability, 12-month NPV — lives in pure Python. Claude receives pre-computed numbers and adds contextual analysis. This is intentional: you don't want your financial exposure model to depend on LLM output variability.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calls because they serve different purposes. The first call uses structured output — it gives us reliable, parseable JSON that populates all the data panels: the NPV table, the FHA flags, the risk accordion. The second call takes that structured result as context and streams a narrative explanation. This matches Plaza's existing terminal-style agent UX. The key architectural decision: the eviction probability and vacancy cost calculations are pure Python in screening_engine.py. Claude never does the math — it explains the math. That separation means we can unit test the financial model independently of the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I'd point to as the finance-meets-CS differentiator. Rosa Gutierrez is a Section 8 voucher holder. Her wages alone don't clear the 3x standard. A naive system — or a less careful LLM — might flag her and suggest denial. But Austin, Texas has a source-of-income anti-discrimination ordinance. Rejecting an applicant because of a housing voucher is an FHA violation in Austin. The system catches this with a two-tier approach: a rule-based pre-check that's deterministic and auditable, followed by Claude's contextual analysis. The FHA panel lights up red, explains the legal exposure, and outputs the compliant alternative: evaluate total combined income including the subsidy.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NPV model turns a binary approve/deny into a quantified revenue comparison. Every applicant gets compared against the market average tenant for that property. The delta tells the asset manager exactly how much revenue they're gaining or giving up versus the baseline. The assumptions — $3,200 vacancy cost, $6,500 eviction cost — are institutional estimates that can be overridden per property. The rent optimization panel uses the same expected value logic: show the EV of raising rent, accounting for the probability the tenant churns and you eat a vacancy. That's a different conversation than 'Zillow says market rent is $150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is straightforward. FastAPI on the backend for the REST and streaming endpoints. Next.js 14 with App Router on the frontend — server components for the dashboard data fetch, client components for the streaming UI. The Anthropic SDK handles the two-call pattern. One deliberate choice: no ORM, no database — everything is mock data with realistic US market ranges. For a take-home this keeps setup to one command, but the architecture slots directly into a real data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switch to the browser. I'll show you three things: first the portfolio dashboard — four properties, 488 units, you'll see the DSCR alert on Riverside Commons because it's at 1.24x against a 1.25x covenant floor. Second, I'll run Sarah Chen through the screening tool so you can watch the structured panels populate and the terminal narrative stream at the same time. Third — and this is the one I want you to see — Rosa Gutierrez, the Section 8 applicant. Watch the FHA compliance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320040"/>
            <a:ext cx="3657600" cy="274320"/>
          </a:xfrm>
          <a:prstGeom prst="rect">
            <a:avLst/>
          </a:prstGeom>
          <a:noFill/>
          <a:ln/>
        </p:spPr>
        <p:txBody>
          <a:bodyPr wrap="square" lIns="0" tIns="0" rIns="0" bIns="0" rtlCol="0" anchor="ctr"/>
          <a:lstStyle/>
          <a:p>
            <a:pPr indent="0" marL="0">
              <a:buNone/>
            </a:pPr>
            <a:r>
              <a:rPr lang="en-US" sz="1100" spc="400" kern="0" dirty="0">
                <a:solidFill>
                  <a:srgbClr val="84CC16"/>
                </a:solidFill>
                <a:latin typeface="Trebuchet MS" pitchFamily="34" charset="0"/>
                <a:ea typeface="Trebuchet MS" pitchFamily="34" charset="-122"/>
                <a:cs typeface="Trebuchet MS" pitchFamily="34" charset="-120"/>
              </a:rPr>
              <a:t>PLAZA INTELLIGENCE</a:t>
            </a:r>
            <a:endParaRPr lang="en-US" sz="1100" dirty="0"/>
          </a:p>
        </p:txBody>
      </p:sp>
      <p:sp>
        <p:nvSpPr>
          <p:cNvPr id="3" name="Text 1"/>
          <p:cNvSpPr/>
          <p:nvPr/>
        </p:nvSpPr>
        <p:spPr>
          <a:xfrm>
            <a:off x="1371600" y="1737360"/>
            <a:ext cx="9445752" cy="1188720"/>
          </a:xfrm>
          <a:prstGeom prst="rect">
            <a:avLst/>
          </a:prstGeom>
          <a:noFill/>
          <a:ln/>
        </p:spPr>
        <p:txBody>
          <a:bodyPr wrap="square" lIns="0" tIns="0" rIns="0" bIns="0" rtlCol="0" anchor="ctr"/>
          <a:lstStyle/>
          <a:p>
            <a:pPr algn="ctr" indent="0" marL="0">
              <a:buNone/>
            </a:pPr>
            <a:r>
              <a:rPr lang="en-US" sz="5400" b="1" dirty="0">
                <a:solidFill>
                  <a:srgbClr val="FFFFFF"/>
                </a:solidFill>
                <a:latin typeface="Trebuchet MS" pitchFamily="34" charset="0"/>
                <a:ea typeface="Trebuchet MS" pitchFamily="34" charset="-122"/>
                <a:cs typeface="Trebuchet MS" pitchFamily="34" charset="-120"/>
              </a:rPr>
              <a:t>Plaza Intelligence</a:t>
            </a:r>
            <a:endParaRPr lang="en-US" sz="5400" dirty="0"/>
          </a:p>
        </p:txBody>
      </p:sp>
      <p:sp>
        <p:nvSpPr>
          <p:cNvPr id="4" name="Shape 2"/>
          <p:cNvSpPr/>
          <p:nvPr/>
        </p:nvSpPr>
        <p:spPr>
          <a:xfrm>
            <a:off x="4270248" y="3063240"/>
            <a:ext cx="3657600" cy="36576"/>
          </a:xfrm>
          <a:prstGeom prst="rect">
            <a:avLst/>
          </a:prstGeom>
          <a:solidFill>
            <a:srgbClr val="84CC16"/>
          </a:solidFill>
          <a:ln w="12700">
            <a:solidFill>
              <a:srgbClr val="84CC16"/>
            </a:solidFill>
            <a:prstDash val="solid"/>
          </a:ln>
        </p:spPr>
      </p:sp>
      <p:sp>
        <p:nvSpPr>
          <p:cNvPr id="5" name="Text 3"/>
          <p:cNvSpPr/>
          <p:nvPr/>
        </p:nvSpPr>
        <p:spPr>
          <a:xfrm>
            <a:off x="914400" y="3246120"/>
            <a:ext cx="10360152" cy="457200"/>
          </a:xfrm>
          <a:prstGeom prst="rect">
            <a:avLst/>
          </a:prstGeom>
          <a:noFill/>
          <a:ln/>
        </p:spPr>
        <p:txBody>
          <a:bodyPr wrap="square" lIns="0" tIns="0" rIns="0" bIns="0"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Residential Asset Management — A Product Extension</a:t>
            </a:r>
            <a:endParaRPr lang="en-US" sz="2000" dirty="0"/>
          </a:p>
        </p:txBody>
      </p:sp>
      <p:sp>
        <p:nvSpPr>
          <p:cNvPr id="6" name="Text 4"/>
          <p:cNvSpPr/>
          <p:nvPr/>
        </p:nvSpPr>
        <p:spPr>
          <a:xfrm>
            <a:off x="914400" y="3794760"/>
            <a:ext cx="10360152" cy="36576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AI-powered tenant screening &amp; portfolio monitoring</a:t>
            </a:r>
            <a:endParaRPr lang="en-US" sz="1400" dirty="0"/>
          </a:p>
        </p:txBody>
      </p:sp>
      <p:sp>
        <p:nvSpPr>
          <p:cNvPr id="7" name="Text 5"/>
          <p:cNvSpPr/>
          <p:nvPr/>
        </p:nvSpPr>
        <p:spPr>
          <a:xfrm>
            <a:off x="9144000" y="6492240"/>
            <a:ext cx="2743200" cy="228600"/>
          </a:xfrm>
          <a:prstGeom prst="rect">
            <a:avLst/>
          </a:prstGeom>
          <a:noFill/>
          <a:ln/>
        </p:spPr>
        <p:txBody>
          <a:bodyPr wrap="square" lIns="0" tIns="0" rIns="0" bIns="0" rtlCol="0" anchor="ctr"/>
          <a:lstStyle/>
          <a:p>
            <a:pPr algn="r" indent="0" marL="0">
              <a:buNone/>
            </a:pPr>
            <a:r>
              <a:rPr lang="en-US" sz="1000" dirty="0">
                <a:solidFill>
                  <a:srgbClr val="4A5568"/>
                </a:solidFill>
                <a:latin typeface="Calibri" pitchFamily="34" charset="0"/>
                <a:ea typeface="Calibri" pitchFamily="34" charset="-122"/>
                <a:cs typeface="Calibri" pitchFamily="34" charset="-120"/>
              </a:rPr>
              <a:t>Take-Home · April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74320"/>
            <a:ext cx="9144000" cy="54864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The Missing Workflow</a:t>
            </a:r>
            <a:endParaRPr lang="en-US" sz="3200" dirty="0"/>
          </a:p>
        </p:txBody>
      </p:sp>
      <p:sp>
        <p:nvSpPr>
          <p:cNvPr id="3" name="Shape 1"/>
          <p:cNvSpPr/>
          <p:nvPr/>
        </p:nvSpPr>
        <p:spPr>
          <a:xfrm>
            <a:off x="365760" y="1005840"/>
            <a:ext cx="3383280" cy="3749040"/>
          </a:xfrm>
          <a:prstGeom prst="rect">
            <a:avLst/>
          </a:prstGeom>
          <a:solidFill>
            <a:srgbClr val="161B27"/>
          </a:solidFill>
          <a:ln w="19050">
            <a:solidFill>
              <a:srgbClr val="1E2D1E"/>
            </a:solidFill>
            <a:prstDash val="solid"/>
          </a:ln>
        </p:spPr>
      </p:sp>
      <p:sp>
        <p:nvSpPr>
          <p:cNvPr id="4" name="Shape 2"/>
          <p:cNvSpPr/>
          <p:nvPr/>
        </p:nvSpPr>
        <p:spPr>
          <a:xfrm>
            <a:off x="365760" y="1005840"/>
            <a:ext cx="3383280" cy="411480"/>
          </a:xfrm>
          <a:prstGeom prst="rect">
            <a:avLst/>
          </a:prstGeom>
          <a:solidFill>
            <a:srgbClr val="0E1A0E"/>
          </a:solidFill>
          <a:ln w="12700">
            <a:solidFill>
              <a:srgbClr val="1E2D1E"/>
            </a:solidFill>
            <a:prstDash val="solid"/>
          </a:ln>
        </p:spPr>
      </p:sp>
      <p:sp>
        <p:nvSpPr>
          <p:cNvPr id="5" name="Text 3"/>
          <p:cNvSpPr/>
          <p:nvPr/>
        </p:nvSpPr>
        <p:spPr>
          <a:xfrm>
            <a:off x="502920" y="1069848"/>
            <a:ext cx="3108960" cy="292608"/>
          </a:xfrm>
          <a:prstGeom prst="rect">
            <a:avLst/>
          </a:prstGeom>
          <a:noFill/>
          <a:ln/>
        </p:spPr>
        <p:txBody>
          <a:bodyPr wrap="square" lIns="0" tIns="0" rIns="0" bIns="0" rtlCol="0" anchor="ctr"/>
          <a:lstStyle/>
          <a:p>
            <a:pPr indent="0" marL="0">
              <a:buNone/>
            </a:pPr>
            <a:r>
              <a:rPr lang="en-US" sz="1300" b="1" dirty="0">
                <a:solidFill>
                  <a:srgbClr val="84CC16"/>
                </a:solidFill>
                <a:latin typeface="Trebuchet MS" pitchFamily="34" charset="0"/>
                <a:ea typeface="Trebuchet MS" pitchFamily="34" charset="-122"/>
                <a:cs typeface="Trebuchet MS" pitchFamily="34" charset="-120"/>
              </a:rPr>
              <a:t>Plaza Today</a:t>
            </a:r>
            <a:endParaRPr lang="en-US" sz="1300" dirty="0"/>
          </a:p>
        </p:txBody>
      </p:sp>
      <p:sp>
        <p:nvSpPr>
          <p:cNvPr id="6" name="Text 4"/>
          <p:cNvSpPr/>
          <p:nvPr/>
        </p:nvSpPr>
        <p:spPr>
          <a:xfrm>
            <a:off x="502920" y="1554480"/>
            <a:ext cx="3108960" cy="2743200"/>
          </a:xfrm>
          <a:prstGeom prst="rect">
            <a:avLst/>
          </a:prstGeom>
          <a:noFill/>
          <a:ln/>
        </p:spPr>
        <p:txBody>
          <a:bodyPr wrap="square" lIns="0" tIns="0" rIns="0" bIns="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Underwriting &amp; deal analysis</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Asset management monitoring</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Debt &amp; covenant tracking</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Renovations management</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Investor reporting</a:t>
            </a:r>
            <a:endParaRPr lang="en-US" sz="1100" dirty="0"/>
          </a:p>
        </p:txBody>
      </p:sp>
      <p:sp>
        <p:nvSpPr>
          <p:cNvPr id="7" name="Text 5"/>
          <p:cNvSpPr/>
          <p:nvPr/>
        </p:nvSpPr>
        <p:spPr>
          <a:xfrm>
            <a:off x="457200" y="4407408"/>
            <a:ext cx="3200400" cy="27432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Strong PE operating system</a:t>
            </a:r>
            <a:endParaRPr lang="en-US" sz="1000" dirty="0"/>
          </a:p>
        </p:txBody>
      </p:sp>
      <p:sp>
        <p:nvSpPr>
          <p:cNvPr id="8" name="Shape 6"/>
          <p:cNvSpPr/>
          <p:nvPr/>
        </p:nvSpPr>
        <p:spPr>
          <a:xfrm>
            <a:off x="3995928" y="1005840"/>
            <a:ext cx="3383280" cy="3749040"/>
          </a:xfrm>
          <a:prstGeom prst="rect">
            <a:avLst/>
          </a:prstGeom>
          <a:solidFill>
            <a:srgbClr val="161B27"/>
          </a:solidFill>
          <a:ln w="19050">
            <a:solidFill>
              <a:srgbClr val="3D2A00"/>
            </a:solidFill>
            <a:prstDash val="solid"/>
          </a:ln>
        </p:spPr>
      </p:sp>
      <p:sp>
        <p:nvSpPr>
          <p:cNvPr id="9" name="Shape 7"/>
          <p:cNvSpPr/>
          <p:nvPr/>
        </p:nvSpPr>
        <p:spPr>
          <a:xfrm>
            <a:off x="3995928" y="1005840"/>
            <a:ext cx="3383280" cy="411480"/>
          </a:xfrm>
          <a:prstGeom prst="rect">
            <a:avLst/>
          </a:prstGeom>
          <a:solidFill>
            <a:srgbClr val="1A1200"/>
          </a:solidFill>
          <a:ln w="12700">
            <a:solidFill>
              <a:srgbClr val="3D2A00"/>
            </a:solidFill>
            <a:prstDash val="solid"/>
          </a:ln>
        </p:spPr>
      </p:sp>
      <p:sp>
        <p:nvSpPr>
          <p:cNvPr id="10" name="Text 8"/>
          <p:cNvSpPr/>
          <p:nvPr/>
        </p:nvSpPr>
        <p:spPr>
          <a:xfrm>
            <a:off x="4133088" y="1069848"/>
            <a:ext cx="3108960" cy="292608"/>
          </a:xfrm>
          <a:prstGeom prst="rect">
            <a:avLst/>
          </a:prstGeom>
          <a:noFill/>
          <a:ln/>
        </p:spPr>
        <p:txBody>
          <a:bodyPr wrap="square" lIns="0" tIns="0" rIns="0" bIns="0" rtlCol="0" anchor="ctr"/>
          <a:lstStyle/>
          <a:p>
            <a:pPr indent="0" marL="0">
              <a:buNone/>
            </a:pPr>
            <a:r>
              <a:rPr lang="en-US" sz="1300" b="1" dirty="0">
                <a:solidFill>
                  <a:srgbClr val="F59E0B"/>
                </a:solidFill>
                <a:latin typeface="Trebuchet MS" pitchFamily="34" charset="0"/>
                <a:ea typeface="Trebuchet MS" pitchFamily="34" charset="-122"/>
                <a:cs typeface="Trebuchet MS" pitchFamily="34" charset="-120"/>
              </a:rPr>
              <a:t>The Gap</a:t>
            </a:r>
            <a:endParaRPr lang="en-US" sz="1300" dirty="0"/>
          </a:p>
        </p:txBody>
      </p:sp>
      <p:sp>
        <p:nvSpPr>
          <p:cNvPr id="11" name="Text 9"/>
          <p:cNvSpPr/>
          <p:nvPr/>
        </p:nvSpPr>
        <p:spPr>
          <a:xfrm>
            <a:off x="4133088" y="1554480"/>
            <a:ext cx="3108960" cy="2743200"/>
          </a:xfrm>
          <a:prstGeom prst="rect">
            <a:avLst/>
          </a:prstGeom>
          <a:noFill/>
          <a:ln/>
        </p:spPr>
        <p:txBody>
          <a:bodyPr wrap="square" lIns="0" tIns="0" rIns="0" bIns="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No tenant screening layer</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Leasing decisions made offline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Excel, gut feel, no AI</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Happens BEFORE Plaza sees the asset</a:t>
            </a:r>
            <a:endParaRPr lang="en-US" sz="1100" dirty="0"/>
          </a:p>
        </p:txBody>
      </p:sp>
      <p:sp>
        <p:nvSpPr>
          <p:cNvPr id="12" name="Text 10"/>
          <p:cNvSpPr/>
          <p:nvPr/>
        </p:nvSpPr>
        <p:spPr>
          <a:xfrm>
            <a:off x="4087368" y="4407408"/>
            <a:ext cx="3200400" cy="27432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The workflow Plaza doesn't own</a:t>
            </a:r>
            <a:endParaRPr lang="en-US" sz="1000" dirty="0"/>
          </a:p>
        </p:txBody>
      </p:sp>
      <p:sp>
        <p:nvSpPr>
          <p:cNvPr id="13" name="Shape 11"/>
          <p:cNvSpPr/>
          <p:nvPr/>
        </p:nvSpPr>
        <p:spPr>
          <a:xfrm>
            <a:off x="7626096" y="1005840"/>
            <a:ext cx="3383280" cy="3749040"/>
          </a:xfrm>
          <a:prstGeom prst="rect">
            <a:avLst/>
          </a:prstGeom>
          <a:solidFill>
            <a:srgbClr val="161B27"/>
          </a:solidFill>
          <a:ln w="19050">
            <a:solidFill>
              <a:srgbClr val="1E2D1E"/>
            </a:solidFill>
            <a:prstDash val="solid"/>
          </a:ln>
        </p:spPr>
      </p:sp>
      <p:sp>
        <p:nvSpPr>
          <p:cNvPr id="14" name="Shape 12"/>
          <p:cNvSpPr/>
          <p:nvPr/>
        </p:nvSpPr>
        <p:spPr>
          <a:xfrm>
            <a:off x="7626096" y="1005840"/>
            <a:ext cx="3383280" cy="411480"/>
          </a:xfrm>
          <a:prstGeom prst="rect">
            <a:avLst/>
          </a:prstGeom>
          <a:solidFill>
            <a:srgbClr val="0E1A0E"/>
          </a:solidFill>
          <a:ln w="12700">
            <a:solidFill>
              <a:srgbClr val="1E2D1E"/>
            </a:solidFill>
            <a:prstDash val="solid"/>
          </a:ln>
        </p:spPr>
      </p:sp>
      <p:sp>
        <p:nvSpPr>
          <p:cNvPr id="15" name="Text 13"/>
          <p:cNvSpPr/>
          <p:nvPr/>
        </p:nvSpPr>
        <p:spPr>
          <a:xfrm>
            <a:off x="7763256" y="1069848"/>
            <a:ext cx="3108960" cy="292608"/>
          </a:xfrm>
          <a:prstGeom prst="rect">
            <a:avLst/>
          </a:prstGeom>
          <a:noFill/>
          <a:ln/>
        </p:spPr>
        <p:txBody>
          <a:bodyPr wrap="square" lIns="0" tIns="0" rIns="0" bIns="0" rtlCol="0" anchor="ctr"/>
          <a:lstStyle/>
          <a:p>
            <a:pPr indent="0" marL="0">
              <a:buNone/>
            </a:pPr>
            <a:r>
              <a:rPr lang="en-US" sz="1300" b="1" dirty="0">
                <a:solidFill>
                  <a:srgbClr val="84CC16"/>
                </a:solidFill>
                <a:latin typeface="Trebuchet MS" pitchFamily="34" charset="0"/>
                <a:ea typeface="Trebuchet MS" pitchFamily="34" charset="-122"/>
                <a:cs typeface="Trebuchet MS" pitchFamily="34" charset="-120"/>
              </a:rPr>
              <a:t>Why It Matters</a:t>
            </a:r>
            <a:endParaRPr lang="en-US" sz="1300" dirty="0"/>
          </a:p>
        </p:txBody>
      </p:sp>
      <p:sp>
        <p:nvSpPr>
          <p:cNvPr id="16" name="Text 14"/>
          <p:cNvSpPr/>
          <p:nvPr/>
        </p:nvSpPr>
        <p:spPr>
          <a:xfrm>
            <a:off x="7763256" y="1554480"/>
            <a:ext cx="3108960" cy="2743200"/>
          </a:xfrm>
          <a:prstGeom prst="rect">
            <a:avLst/>
          </a:prstGeom>
          <a:noFill/>
          <a:ln/>
        </p:spPr>
        <p:txBody>
          <a:bodyPr wrap="square" lIns="0" tIns="0" rIns="0" bIns="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One bad placement = $3,500–8,000 eviction</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+ 30–90 day vacancy</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 NOI drag from day one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Portfolio scale: $200K–400K/yr loss</a:t>
            </a:r>
            <a:endParaRPr lang="en-US" sz="1100" dirty="0"/>
          </a:p>
        </p:txBody>
      </p:sp>
      <p:sp>
        <p:nvSpPr>
          <p:cNvPr id="17" name="Text 15"/>
          <p:cNvSpPr/>
          <p:nvPr/>
        </p:nvSpPr>
        <p:spPr>
          <a:xfrm>
            <a:off x="7717536" y="4407408"/>
            <a:ext cx="3200400" cy="27432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First decision = highest leverage</a:t>
            </a:r>
            <a:endParaRPr lang="en-US" sz="1000" dirty="0"/>
          </a:p>
        </p:txBody>
      </p:sp>
      <p:sp>
        <p:nvSpPr>
          <p:cNvPr id="18" name="Shape 16"/>
          <p:cNvSpPr/>
          <p:nvPr/>
        </p:nvSpPr>
        <p:spPr>
          <a:xfrm>
            <a:off x="365760" y="5029200"/>
            <a:ext cx="11430000" cy="1463040"/>
          </a:xfrm>
          <a:prstGeom prst="rect">
            <a:avLst/>
          </a:prstGeom>
          <a:solidFill>
            <a:srgbClr val="0F1F0F"/>
          </a:solidFill>
          <a:ln w="12700">
            <a:solidFill>
              <a:srgbClr val="0F1F0F"/>
            </a:solidFill>
            <a:prstDash val="solid"/>
          </a:ln>
        </p:spPr>
      </p:sp>
      <p:sp>
        <p:nvSpPr>
          <p:cNvPr id="19" name="Shape 17"/>
          <p:cNvSpPr/>
          <p:nvPr/>
        </p:nvSpPr>
        <p:spPr>
          <a:xfrm>
            <a:off x="365760" y="5029200"/>
            <a:ext cx="64008" cy="1463040"/>
          </a:xfrm>
          <a:prstGeom prst="rect">
            <a:avLst/>
          </a:prstGeom>
          <a:solidFill>
            <a:srgbClr val="84CC16"/>
          </a:solidFill>
          <a:ln w="12700">
            <a:solidFill>
              <a:srgbClr val="84CC16"/>
            </a:solidFill>
            <a:prstDash val="solid"/>
          </a:ln>
        </p:spPr>
      </p:sp>
      <p:sp>
        <p:nvSpPr>
          <p:cNvPr id="20" name="Text 18"/>
          <p:cNvSpPr/>
          <p:nvPr/>
        </p:nvSpPr>
        <p:spPr>
          <a:xfrm>
            <a:off x="566928" y="5120640"/>
            <a:ext cx="11064240" cy="128016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Tenant screening is the first NOI decision. It happens before Plaza touches the asset — and it’s the one with the most downside.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What I Built</a:t>
            </a:r>
            <a:endParaRPr lang="en-US" sz="2800" dirty="0"/>
          </a:p>
        </p:txBody>
      </p:sp>
      <p:sp>
        <p:nvSpPr>
          <p:cNvPr id="3" name="Text 1"/>
          <p:cNvSpPr/>
          <p:nvPr/>
        </p:nvSpPr>
        <p:spPr>
          <a:xfrm>
            <a:off x="457200" y="749808"/>
            <a:ext cx="7315200" cy="274320"/>
          </a:xfrm>
          <a:prstGeom prst="rect">
            <a:avLst/>
          </a:prstGeom>
          <a:noFill/>
          <a:ln/>
        </p:spPr>
        <p:txBody>
          <a:bodyPr wrap="square" lIns="0" tIns="0" rIns="0" bIns="0" rtlCol="0" anchor="ctr"/>
          <a:lstStyle/>
          <a:p>
            <a:pPr indent="0" marL="0">
              <a:buNone/>
            </a:pPr>
            <a:r>
              <a:rPr lang="en-US" sz="1100" dirty="0">
                <a:solidFill>
                  <a:srgbClr val="84CC16"/>
                </a:solidFill>
                <a:latin typeface="Calibri" pitchFamily="34" charset="0"/>
                <a:ea typeface="Calibri" pitchFamily="34" charset="-122"/>
                <a:cs typeface="Calibri" pitchFamily="34" charset="-120"/>
              </a:rPr>
              <a:t>4 properties · 488 units · $5.68M portfolio NOI</a:t>
            </a:r>
            <a:endParaRPr lang="en-US" sz="1100" dirty="0"/>
          </a:p>
        </p:txBody>
      </p:sp>
      <p:sp>
        <p:nvSpPr>
          <p:cNvPr id="4" name="Shape 2"/>
          <p:cNvSpPr/>
          <p:nvPr/>
        </p:nvSpPr>
        <p:spPr>
          <a:xfrm>
            <a:off x="2441448" y="1234440"/>
            <a:ext cx="7315200" cy="594360"/>
          </a:xfrm>
          <a:prstGeom prst="rect">
            <a:avLst/>
          </a:prstGeom>
          <a:solidFill>
            <a:srgbClr val="84CC16"/>
          </a:solidFill>
          <a:ln w="12700">
            <a:solidFill>
              <a:srgbClr val="84CC16"/>
            </a:solidFill>
            <a:prstDash val="solid"/>
          </a:ln>
        </p:spPr>
      </p:sp>
      <p:sp>
        <p:nvSpPr>
          <p:cNvPr id="5" name="Text 3"/>
          <p:cNvSpPr/>
          <p:nvPr/>
        </p:nvSpPr>
        <p:spPr>
          <a:xfrm>
            <a:off x="2441448" y="1298448"/>
            <a:ext cx="7315200" cy="502920"/>
          </a:xfrm>
          <a:prstGeom prst="rect">
            <a:avLst/>
          </a:prstGeom>
          <a:noFill/>
          <a:ln/>
        </p:spPr>
        <p:txBody>
          <a:bodyPr wrap="square" lIns="0" tIns="0" rIns="0" bIns="0" rtlCol="0" anchor="ctr"/>
          <a:lstStyle/>
          <a:p>
            <a:pPr algn="ctr" indent="0" marL="0">
              <a:buNone/>
            </a:pPr>
            <a:r>
              <a:rPr lang="en-US" sz="1400" b="1" dirty="0">
                <a:solidFill>
                  <a:srgbClr val="000000"/>
                </a:solidFill>
                <a:latin typeface="Trebuchet MS" pitchFamily="34" charset="0"/>
                <a:ea typeface="Trebuchet MS" pitchFamily="34" charset="-122"/>
                <a:cs typeface="Trebuchet MS" pitchFamily="34" charset="-120"/>
              </a:rPr>
              <a:t>Plaza Intelligence — Residential AM</a:t>
            </a:r>
            <a:endParaRPr lang="en-US" sz="1400" dirty="0"/>
          </a:p>
        </p:txBody>
      </p:sp>
      <p:sp>
        <p:nvSpPr>
          <p:cNvPr id="6" name="Shape 4"/>
          <p:cNvSpPr/>
          <p:nvPr/>
        </p:nvSpPr>
        <p:spPr>
          <a:xfrm>
            <a:off x="3246120" y="1828800"/>
            <a:ext cx="0" cy="640080"/>
          </a:xfrm>
          <a:prstGeom prst="line">
            <a:avLst/>
          </a:prstGeom>
          <a:noFill/>
          <a:ln w="25400">
            <a:solidFill>
              <a:srgbClr val="84CC16"/>
            </a:solidFill>
            <a:prstDash val="solid"/>
          </a:ln>
        </p:spPr>
      </p:sp>
      <p:sp>
        <p:nvSpPr>
          <p:cNvPr id="7" name="Shape 5"/>
          <p:cNvSpPr/>
          <p:nvPr/>
        </p:nvSpPr>
        <p:spPr>
          <a:xfrm>
            <a:off x="8485632" y="1828800"/>
            <a:ext cx="0" cy="640080"/>
          </a:xfrm>
          <a:prstGeom prst="line">
            <a:avLst/>
          </a:prstGeom>
          <a:noFill/>
          <a:ln w="25400">
            <a:solidFill>
              <a:srgbClr val="84CC16"/>
            </a:solidFill>
            <a:prstDash val="solid"/>
          </a:ln>
        </p:spPr>
      </p:sp>
      <p:sp>
        <p:nvSpPr>
          <p:cNvPr id="8" name="Shape 6"/>
          <p:cNvSpPr/>
          <p:nvPr/>
        </p:nvSpPr>
        <p:spPr>
          <a:xfrm>
            <a:off x="365760" y="2468880"/>
            <a:ext cx="5394960" cy="3931920"/>
          </a:xfrm>
          <a:prstGeom prst="rect">
            <a:avLst/>
          </a:prstGeom>
          <a:solidFill>
            <a:srgbClr val="161B27"/>
          </a:solidFill>
          <a:ln w="19050">
            <a:solidFill>
              <a:srgbClr val="84CC16"/>
            </a:solidFill>
            <a:prstDash val="solid"/>
          </a:ln>
        </p:spPr>
      </p:sp>
      <p:sp>
        <p:nvSpPr>
          <p:cNvPr id="9" name="Shape 7"/>
          <p:cNvSpPr/>
          <p:nvPr/>
        </p:nvSpPr>
        <p:spPr>
          <a:xfrm>
            <a:off x="365760" y="2468880"/>
            <a:ext cx="5394960" cy="384048"/>
          </a:xfrm>
          <a:prstGeom prst="rect">
            <a:avLst/>
          </a:prstGeom>
          <a:solidFill>
            <a:srgbClr val="0E1A0E"/>
          </a:solidFill>
          <a:ln w="12700">
            <a:solidFill>
              <a:srgbClr val="84CC16"/>
            </a:solidFill>
            <a:prstDash val="solid"/>
          </a:ln>
        </p:spPr>
      </p:sp>
      <p:sp>
        <p:nvSpPr>
          <p:cNvPr id="10" name="Text 8"/>
          <p:cNvSpPr/>
          <p:nvPr/>
        </p:nvSpPr>
        <p:spPr>
          <a:xfrm>
            <a:off x="502920" y="2532888"/>
            <a:ext cx="5120640"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Portfolio Dashboard</a:t>
            </a:r>
            <a:endParaRPr lang="en-US" sz="1200" dirty="0"/>
          </a:p>
        </p:txBody>
      </p:sp>
      <p:sp>
        <p:nvSpPr>
          <p:cNvPr id="11" name="Text 9"/>
          <p:cNvSpPr/>
          <p:nvPr/>
        </p:nvSpPr>
        <p:spPr>
          <a:xfrm>
            <a:off x="548640" y="2971800"/>
            <a:ext cx="5029200" cy="32918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 KPI Bar: NOI · Occupancy · Collection · DSCR</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NOI Trend Chart (vs. budget)</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Property Cards + DSCR badges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Lease Rollover (30 / 60 / 90d)</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AI Risk Feed: URGENT / WATCH / INFO</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Rent Optimization — EV math</a:t>
            </a:r>
            <a:endParaRPr lang="en-US" sz="1000" dirty="0"/>
          </a:p>
        </p:txBody>
      </p:sp>
      <p:sp>
        <p:nvSpPr>
          <p:cNvPr id="12" name="Shape 10"/>
          <p:cNvSpPr/>
          <p:nvPr/>
        </p:nvSpPr>
        <p:spPr>
          <a:xfrm>
            <a:off x="6400800" y="2468880"/>
            <a:ext cx="5486400" cy="3931920"/>
          </a:xfrm>
          <a:prstGeom prst="rect">
            <a:avLst/>
          </a:prstGeom>
          <a:solidFill>
            <a:srgbClr val="0F1F0F"/>
          </a:solidFill>
          <a:ln w="25400">
            <a:solidFill>
              <a:srgbClr val="84CC16"/>
            </a:solidFill>
            <a:prstDash val="solid"/>
          </a:ln>
        </p:spPr>
      </p:sp>
      <p:sp>
        <p:nvSpPr>
          <p:cNvPr id="13" name="Shape 11"/>
          <p:cNvSpPr/>
          <p:nvPr/>
        </p:nvSpPr>
        <p:spPr>
          <a:xfrm>
            <a:off x="6400800" y="2468880"/>
            <a:ext cx="5486400" cy="384048"/>
          </a:xfrm>
          <a:prstGeom prst="rect">
            <a:avLst/>
          </a:prstGeom>
          <a:solidFill>
            <a:srgbClr val="0A1A0A"/>
          </a:solidFill>
          <a:ln w="12700">
            <a:solidFill>
              <a:srgbClr val="84CC16"/>
            </a:solidFill>
            <a:prstDash val="solid"/>
          </a:ln>
        </p:spPr>
      </p:sp>
      <p:sp>
        <p:nvSpPr>
          <p:cNvPr id="14" name="Text 12"/>
          <p:cNvSpPr/>
          <p:nvPr/>
        </p:nvSpPr>
        <p:spPr>
          <a:xfrm>
            <a:off x="6537960" y="2532888"/>
            <a:ext cx="5212080" cy="274320"/>
          </a:xfrm>
          <a:prstGeom prst="rect">
            <a:avLst/>
          </a:prstGeom>
          <a:noFill/>
          <a:ln/>
        </p:spPr>
        <p:txBody>
          <a:bodyPr wrap="square" lIns="0" tIns="0" rIns="0" bIns="0" rtlCol="0" anchor="ctr"/>
          <a:lstStyle/>
          <a:p>
            <a:pPr indent="0" marL="0">
              <a:buNone/>
            </a:pPr>
            <a:r>
              <a:rPr lang="en-US" sz="1200" b="1" dirty="0">
                <a:solidFill>
                  <a:srgbClr val="84CC16"/>
                </a:solidFill>
                <a:latin typeface="Trebuchet MS" pitchFamily="34" charset="0"/>
                <a:ea typeface="Trebuchet MS" pitchFamily="34" charset="-122"/>
                <a:cs typeface="Trebuchet MS" pitchFamily="34" charset="-120"/>
              </a:rPr>
              <a:t>AI Tenant Screening ★</a:t>
            </a:r>
            <a:endParaRPr lang="en-US" sz="1200" dirty="0"/>
          </a:p>
        </p:txBody>
      </p:sp>
      <p:sp>
        <p:nvSpPr>
          <p:cNvPr id="15" name="Text 13"/>
          <p:cNvSpPr/>
          <p:nvPr/>
        </p:nvSpPr>
        <p:spPr>
          <a:xfrm>
            <a:off x="6583680" y="2971800"/>
            <a:ext cx="5120640" cy="32918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 5 Preset Applicant Profiles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Call 1: Structured JSON → NPV + FHA + Risk Flags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Call 2: SSE Streaming → Terminal Narrative</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Income Ratio Gauge (3× standard)</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FHA Compliance Panel</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12-Month NPV Impact Model</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Conditions Checklist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9144000" cy="54864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Why Two Claude Calls</a:t>
            </a:r>
            <a:endParaRPr lang="en-US" sz="3200" dirty="0"/>
          </a:p>
        </p:txBody>
      </p:sp>
      <p:sp>
        <p:nvSpPr>
          <p:cNvPr id="3" name="Text 1"/>
          <p:cNvSpPr/>
          <p:nvPr/>
        </p:nvSpPr>
        <p:spPr>
          <a:xfrm>
            <a:off x="457200" y="804672"/>
            <a:ext cx="9144000" cy="3200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Structured reliability + streaming UX</a:t>
            </a:r>
            <a:endParaRPr lang="en-US" sz="1400" dirty="0"/>
          </a:p>
        </p:txBody>
      </p:sp>
      <p:sp>
        <p:nvSpPr>
          <p:cNvPr id="4" name="Shape 2"/>
          <p:cNvSpPr/>
          <p:nvPr/>
        </p:nvSpPr>
        <p:spPr>
          <a:xfrm>
            <a:off x="365760" y="1325880"/>
            <a:ext cx="5029200" cy="4023360"/>
          </a:xfrm>
          <a:prstGeom prst="rect">
            <a:avLst/>
          </a:prstGeom>
          <a:solidFill>
            <a:srgbClr val="0A1A0A"/>
          </a:solidFill>
          <a:ln w="25400">
            <a:solidFill>
              <a:srgbClr val="84CC16"/>
            </a:solidFill>
            <a:prstDash val="solid"/>
          </a:ln>
        </p:spPr>
      </p:sp>
      <p:sp>
        <p:nvSpPr>
          <p:cNvPr id="5" name="Shape 3"/>
          <p:cNvSpPr/>
          <p:nvPr/>
        </p:nvSpPr>
        <p:spPr>
          <a:xfrm>
            <a:off x="548640" y="1490472"/>
            <a:ext cx="822960" cy="274320"/>
          </a:xfrm>
          <a:prstGeom prst="rect">
            <a:avLst/>
          </a:prstGeom>
          <a:solidFill>
            <a:srgbClr val="84CC16"/>
          </a:solidFill>
          <a:ln w="12700">
            <a:solidFill>
              <a:srgbClr val="84CC16"/>
            </a:solidFill>
            <a:prstDash val="solid"/>
          </a:ln>
        </p:spPr>
      </p:sp>
      <p:sp>
        <p:nvSpPr>
          <p:cNvPr id="6" name="Text 4"/>
          <p:cNvSpPr/>
          <p:nvPr/>
        </p:nvSpPr>
        <p:spPr>
          <a:xfrm>
            <a:off x="548640" y="1490472"/>
            <a:ext cx="822960" cy="274320"/>
          </a:xfrm>
          <a:prstGeom prst="rect">
            <a:avLst/>
          </a:prstGeom>
          <a:noFill/>
          <a:ln/>
        </p:spPr>
        <p:txBody>
          <a:bodyPr wrap="square" lIns="0" tIns="0" rIns="0" bIns="0" rtlCol="0" anchor="ctr"/>
          <a:lstStyle/>
          <a:p>
            <a:pPr algn="ctr" indent="0" marL="0">
              <a:buNone/>
            </a:pPr>
            <a:r>
              <a:rPr lang="en-US" sz="900" b="1" dirty="0">
                <a:solidFill>
                  <a:srgbClr val="000000"/>
                </a:solidFill>
                <a:latin typeface="Trebuchet MS" pitchFamily="34" charset="0"/>
                <a:ea typeface="Trebuchet MS" pitchFamily="34" charset="-122"/>
                <a:cs typeface="Trebuchet MS" pitchFamily="34" charset="-120"/>
              </a:rPr>
              <a:t>CALL 1</a:t>
            </a:r>
            <a:endParaRPr lang="en-US" sz="900" dirty="0"/>
          </a:p>
        </p:txBody>
      </p:sp>
      <p:sp>
        <p:nvSpPr>
          <p:cNvPr id="7" name="Text 5"/>
          <p:cNvSpPr/>
          <p:nvPr/>
        </p:nvSpPr>
        <p:spPr>
          <a:xfrm>
            <a:off x="548640" y="1856232"/>
            <a:ext cx="4663440" cy="347472"/>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Structured Analysis</a:t>
            </a:r>
            <a:endParaRPr lang="en-US" sz="1400" dirty="0"/>
          </a:p>
        </p:txBody>
      </p:sp>
      <p:sp>
        <p:nvSpPr>
          <p:cNvPr id="8" name="Text 6"/>
          <p:cNvSpPr/>
          <p:nvPr/>
        </p:nvSpPr>
        <p:spPr>
          <a:xfrm>
            <a:off x="548640" y="2313432"/>
            <a:ext cx="4663440" cy="237744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Input: Applicant data + pre-computed financials</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Output: JSON schema</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Recommendation + confidence score</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Risk flags array</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FHA compliance object</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NPV model object</a:t>
            </a:r>
            <a:endParaRPr lang="en-US" sz="1100" dirty="0"/>
          </a:p>
        </p:txBody>
      </p:sp>
      <p:sp>
        <p:nvSpPr>
          <p:cNvPr id="9" name="Text 7"/>
          <p:cNvSpPr/>
          <p:nvPr/>
        </p:nvSpPr>
        <p:spPr>
          <a:xfrm>
            <a:off x="548640" y="4937760"/>
            <a:ext cx="4663440" cy="320040"/>
          </a:xfrm>
          <a:prstGeom prst="rect">
            <a:avLst/>
          </a:prstGeom>
          <a:noFill/>
          <a:ln/>
        </p:spPr>
        <p:txBody>
          <a:bodyPr wrap="square" lIns="0" tIns="0" rIns="0" bIns="0" rtlCol="0" anchor="ctr"/>
          <a:lstStyle/>
          <a:p>
            <a:pPr indent="0" marL="0">
              <a:buNone/>
            </a:pPr>
            <a:r>
              <a:rPr lang="en-US" sz="1000" i="1" dirty="0">
                <a:solidFill>
                  <a:srgbClr val="84CC16"/>
                </a:solidFill>
                <a:latin typeface="Calibri" pitchFamily="34" charset="0"/>
                <a:ea typeface="Calibri" pitchFamily="34" charset="-122"/>
                <a:cs typeface="Calibri" pitchFamily="34" charset="-120"/>
              </a:rPr>
              <a:t>Deterministic · Testable · Populates UI panels</a:t>
            </a:r>
            <a:endParaRPr lang="en-US" sz="1000" dirty="0"/>
          </a:p>
        </p:txBody>
      </p:sp>
      <p:sp>
        <p:nvSpPr>
          <p:cNvPr id="10" name="Text 8"/>
          <p:cNvSpPr/>
          <p:nvPr/>
        </p:nvSpPr>
        <p:spPr>
          <a:xfrm>
            <a:off x="5577840" y="2971800"/>
            <a:ext cx="914400" cy="731520"/>
          </a:xfrm>
          <a:prstGeom prst="rect">
            <a:avLst/>
          </a:prstGeom>
          <a:noFill/>
          <a:ln/>
        </p:spPr>
        <p:txBody>
          <a:bodyPr wrap="square" lIns="0" tIns="0" rIns="0" bIns="0" rtlCol="0" anchor="ctr"/>
          <a:lstStyle/>
          <a:p>
            <a:pPr algn="ctr" indent="0" marL="0">
              <a:buNone/>
            </a:pPr>
            <a:r>
              <a:rPr lang="en-US" sz="2400" b="1" dirty="0">
                <a:solidFill>
                  <a:srgbClr val="84CC16"/>
                </a:solidFill>
                <a:latin typeface="Trebuchet MS" pitchFamily="34" charset="0"/>
                <a:ea typeface="Trebuchet MS" pitchFamily="34" charset="-122"/>
                <a:cs typeface="Trebuchet MS" pitchFamily="34" charset="-120"/>
              </a:rPr>
              <a:t>→</a:t>
            </a:r>
            <a:endParaRPr lang="en-US" sz="2400" dirty="0"/>
          </a:p>
        </p:txBody>
      </p:sp>
      <p:sp>
        <p:nvSpPr>
          <p:cNvPr id="11" name="Shape 9"/>
          <p:cNvSpPr/>
          <p:nvPr/>
        </p:nvSpPr>
        <p:spPr>
          <a:xfrm>
            <a:off x="6675120" y="1325880"/>
            <a:ext cx="5029200" cy="4023360"/>
          </a:xfrm>
          <a:prstGeom prst="rect">
            <a:avLst/>
          </a:prstGeom>
          <a:solidFill>
            <a:srgbClr val="0A1A0A"/>
          </a:solidFill>
          <a:ln w="25400">
            <a:solidFill>
              <a:srgbClr val="94A3B8"/>
            </a:solidFill>
            <a:prstDash val="dash"/>
          </a:ln>
        </p:spPr>
      </p:sp>
      <p:sp>
        <p:nvSpPr>
          <p:cNvPr id="12" name="Shape 10"/>
          <p:cNvSpPr/>
          <p:nvPr/>
        </p:nvSpPr>
        <p:spPr>
          <a:xfrm>
            <a:off x="6858000" y="1490472"/>
            <a:ext cx="822960" cy="274320"/>
          </a:xfrm>
          <a:prstGeom prst="rect">
            <a:avLst/>
          </a:prstGeom>
          <a:solidFill>
            <a:srgbClr val="94A3B8"/>
          </a:solidFill>
          <a:ln w="12700">
            <a:solidFill>
              <a:srgbClr val="94A3B8"/>
            </a:solidFill>
            <a:prstDash val="solid"/>
          </a:ln>
        </p:spPr>
      </p:sp>
      <p:sp>
        <p:nvSpPr>
          <p:cNvPr id="13" name="Text 11"/>
          <p:cNvSpPr/>
          <p:nvPr/>
        </p:nvSpPr>
        <p:spPr>
          <a:xfrm>
            <a:off x="6858000" y="1490472"/>
            <a:ext cx="822960" cy="274320"/>
          </a:xfrm>
          <a:prstGeom prst="rect">
            <a:avLst/>
          </a:prstGeom>
          <a:noFill/>
          <a:ln/>
        </p:spPr>
        <p:txBody>
          <a:bodyPr wrap="square" lIns="0" tIns="0" rIns="0" bIns="0" rtlCol="0" anchor="ctr"/>
          <a:lstStyle/>
          <a:p>
            <a:pPr algn="ctr" indent="0" marL="0">
              <a:buNone/>
            </a:pPr>
            <a:r>
              <a:rPr lang="en-US" sz="900" b="1" dirty="0">
                <a:solidFill>
                  <a:srgbClr val="000000"/>
                </a:solidFill>
                <a:latin typeface="Trebuchet MS" pitchFamily="34" charset="0"/>
                <a:ea typeface="Trebuchet MS" pitchFamily="34" charset="-122"/>
                <a:cs typeface="Trebuchet MS" pitchFamily="34" charset="-120"/>
              </a:rPr>
              <a:t>CALL 2</a:t>
            </a:r>
            <a:endParaRPr lang="en-US" sz="900" dirty="0"/>
          </a:p>
        </p:txBody>
      </p:sp>
      <p:sp>
        <p:nvSpPr>
          <p:cNvPr id="14" name="Text 12"/>
          <p:cNvSpPr/>
          <p:nvPr/>
        </p:nvSpPr>
        <p:spPr>
          <a:xfrm>
            <a:off x="6858000" y="1856232"/>
            <a:ext cx="4663440" cy="347472"/>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Streaming Narrative</a:t>
            </a:r>
            <a:endParaRPr lang="en-US" sz="1400" dirty="0"/>
          </a:p>
        </p:txBody>
      </p:sp>
      <p:sp>
        <p:nvSpPr>
          <p:cNvPr id="15" name="Text 13"/>
          <p:cNvSpPr/>
          <p:nvPr/>
        </p:nvSpPr>
        <p:spPr>
          <a:xfrm>
            <a:off x="6858000" y="2313432"/>
            <a:ext cx="4663440" cy="237744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Input: Call 1 JSON as context</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Output: SSE token stream</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Terminal-style UI</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Character-by-character</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Plaza agent aesthetic</a:t>
            </a:r>
            <a:endParaRPr lang="en-US" sz="1100" dirty="0"/>
          </a:p>
        </p:txBody>
      </p:sp>
      <p:sp>
        <p:nvSpPr>
          <p:cNvPr id="16" name="Text 14"/>
          <p:cNvSpPr/>
          <p:nvPr/>
        </p:nvSpPr>
        <p:spPr>
          <a:xfrm>
            <a:off x="6858000" y="4937760"/>
            <a:ext cx="4663440" cy="32004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Engaging UX · Matches plaza-agent style</a:t>
            </a:r>
            <a:endParaRPr lang="en-US" sz="1000" dirty="0"/>
          </a:p>
        </p:txBody>
      </p:sp>
      <p:sp>
        <p:nvSpPr>
          <p:cNvPr id="17" name="Shape 15"/>
          <p:cNvSpPr/>
          <p:nvPr/>
        </p:nvSpPr>
        <p:spPr>
          <a:xfrm>
            <a:off x="365760" y="5577840"/>
            <a:ext cx="11430000" cy="1005840"/>
          </a:xfrm>
          <a:prstGeom prst="rect">
            <a:avLst/>
          </a:prstGeom>
          <a:solidFill>
            <a:srgbClr val="0F1F0F"/>
          </a:solidFill>
          <a:ln w="12700">
            <a:solidFill>
              <a:srgbClr val="0F1F0F"/>
            </a:solidFill>
            <a:prstDash val="solid"/>
          </a:ln>
        </p:spPr>
      </p:sp>
      <p:sp>
        <p:nvSpPr>
          <p:cNvPr id="18" name="Shape 16"/>
          <p:cNvSpPr/>
          <p:nvPr/>
        </p:nvSpPr>
        <p:spPr>
          <a:xfrm>
            <a:off x="365760" y="5577840"/>
            <a:ext cx="64008" cy="1005840"/>
          </a:xfrm>
          <a:prstGeom prst="rect">
            <a:avLst/>
          </a:prstGeom>
          <a:solidFill>
            <a:srgbClr val="84CC16"/>
          </a:solidFill>
          <a:ln w="12700">
            <a:solidFill>
              <a:srgbClr val="84CC16"/>
            </a:solidFill>
            <a:prstDash val="solid"/>
          </a:ln>
        </p:spPr>
      </p:sp>
      <p:sp>
        <p:nvSpPr>
          <p:cNvPr id="19" name="Text 17"/>
          <p:cNvSpPr/>
          <p:nvPr/>
        </p:nvSpPr>
        <p:spPr>
          <a:xfrm>
            <a:off x="566928" y="5669280"/>
            <a:ext cx="11064240" cy="82296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Financial model lives in Python, not in the prompt. Claude interprets — it doesn't calculate.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9144000" cy="54864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The Legal Differentiator</a:t>
            </a:r>
            <a:endParaRPr lang="en-US" sz="3200" dirty="0"/>
          </a:p>
        </p:txBody>
      </p:sp>
      <p:sp>
        <p:nvSpPr>
          <p:cNvPr id="3" name="Text 1"/>
          <p:cNvSpPr/>
          <p:nvPr/>
        </p:nvSpPr>
        <p:spPr>
          <a:xfrm>
            <a:off x="457200" y="804672"/>
            <a:ext cx="9144000" cy="320040"/>
          </a:xfrm>
          <a:prstGeom prst="rect">
            <a:avLst/>
          </a:prstGeom>
          <a:noFill/>
          <a:ln/>
        </p:spPr>
        <p:txBody>
          <a:bodyPr wrap="square" lIns="0" tIns="0" rIns="0" bIns="0" rtlCol="0" anchor="ctr"/>
          <a:lstStyle/>
          <a:p>
            <a:pPr indent="0" marL="0">
              <a:buNone/>
            </a:pPr>
            <a:r>
              <a:rPr lang="en-US" sz="1400" dirty="0">
                <a:solidFill>
                  <a:srgbClr val="F59E0B"/>
                </a:solidFill>
                <a:latin typeface="Calibri" pitchFamily="34" charset="0"/>
                <a:ea typeface="Calibri" pitchFamily="34" charset="-122"/>
                <a:cs typeface="Calibri" pitchFamily="34" charset="-120"/>
              </a:rPr>
              <a:t>Why this matters more than the NPV model</a:t>
            </a:r>
            <a:endParaRPr lang="en-US" sz="1400" dirty="0"/>
          </a:p>
        </p:txBody>
      </p:sp>
      <p:sp>
        <p:nvSpPr>
          <p:cNvPr id="4" name="Text 2"/>
          <p:cNvSpPr/>
          <p:nvPr/>
        </p:nvSpPr>
        <p:spPr>
          <a:xfrm>
            <a:off x="365760" y="914400"/>
            <a:ext cx="5303520" cy="347472"/>
          </a:xfrm>
          <a:prstGeom prst="rect">
            <a:avLst/>
          </a:prstGeom>
          <a:noFill/>
          <a:ln/>
        </p:spPr>
        <p:txBody>
          <a:bodyPr wrap="square" lIns="0" tIns="0" rIns="0" bIns="0" rtlCol="0" anchor="ctr"/>
          <a:lstStyle/>
          <a:p>
            <a:pPr indent="0" marL="0">
              <a:buNone/>
            </a:pPr>
            <a:r>
              <a:rPr lang="en-US" sz="1300" b="1" dirty="0">
                <a:solidFill>
                  <a:srgbClr val="EF4444"/>
                </a:solidFill>
                <a:latin typeface="Trebuchet MS" pitchFamily="34" charset="0"/>
                <a:ea typeface="Trebuchet MS" pitchFamily="34" charset="-122"/>
                <a:cs typeface="Trebuchet MS" pitchFamily="34" charset="-120"/>
              </a:rPr>
              <a:t>❌  Without this layer</a:t>
            </a:r>
            <a:endParaRPr lang="en-US" sz="1300" dirty="0"/>
          </a:p>
        </p:txBody>
      </p:sp>
      <p:sp>
        <p:nvSpPr>
          <p:cNvPr id="5" name="Shape 3"/>
          <p:cNvSpPr/>
          <p:nvPr/>
        </p:nvSpPr>
        <p:spPr>
          <a:xfrm>
            <a:off x="365760" y="1325880"/>
            <a:ext cx="5303520" cy="3886200"/>
          </a:xfrm>
          <a:prstGeom prst="rect">
            <a:avLst/>
          </a:prstGeom>
          <a:solidFill>
            <a:srgbClr val="1A0A0A"/>
          </a:solidFill>
          <a:ln w="12700">
            <a:solidFill>
              <a:srgbClr val="EF4444"/>
            </a:solidFill>
            <a:prstDash val="solid"/>
          </a:ln>
        </p:spPr>
      </p:sp>
      <p:sp>
        <p:nvSpPr>
          <p:cNvPr id="6" name="Text 4"/>
          <p:cNvSpPr/>
          <p:nvPr/>
        </p:nvSpPr>
        <p:spPr>
          <a:xfrm>
            <a:off x="548640" y="1508760"/>
            <a:ext cx="4937760" cy="35204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Applicant: Rosa Gutierrez</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Income: Section 8 Housing Choice Voucher</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Naive flag: "Non-traditional income"</a:t>
            </a:r>
            <a:endParaRPr lang="en-US" sz="1100" dirty="0"/>
          </a:p>
          <a:p>
            <a:pPr indent="0" marL="0">
              <a:buNone/>
            </a:pPr>
            <a:r>
              <a:rPr lang="en-US" sz="1100" dirty="0">
                <a:solidFill>
                  <a:srgbClr val="EF4444"/>
                </a:solidFill>
                <a:latin typeface="Calibri" pitchFamily="34" charset="0"/>
                <a:ea typeface="Calibri" pitchFamily="34" charset="-122"/>
                <a:cs typeface="Calibri" pitchFamily="34" charset="-120"/>
              </a:rPr>
              <a:t>Naive action: Denial</a:t>
            </a:r>
            <a:endParaRPr lang="en-US" sz="1100" dirty="0"/>
          </a:p>
          <a:p>
            <a:pPr indent="0" marL="0">
              <a:buNone/>
            </a:pPr>
            <a:r>
              <a:rPr lang="en-US" sz="11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600" b="1" dirty="0">
                <a:solidFill>
                  <a:srgbClr val="EF4444"/>
                </a:solidFill>
                <a:latin typeface="Calibri" pitchFamily="34" charset="0"/>
                <a:ea typeface="Calibri" pitchFamily="34" charset="-122"/>
                <a:cs typeface="Calibri" pitchFamily="34" charset="-120"/>
              </a:rPr>
              <a:t>↓</a:t>
            </a:r>
            <a:endParaRPr lang="en-US" sz="1100" dirty="0"/>
          </a:p>
          <a:p>
            <a:pPr indent="0" marL="0">
              <a:buNone/>
            </a:pPr>
            <a:r>
              <a:rPr lang="en-US" sz="11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Legal exposure:</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Austin City Code §5-11-41</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Source-of-income anti-discrimination</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42 U.S.C. §3604 — Fair Housing Act</a:t>
            </a:r>
            <a:endParaRPr lang="en-US" sz="1100" dirty="0"/>
          </a:p>
          <a:p>
            <a:pPr indent="0" marL="0">
              <a:buNone/>
            </a:pPr>
            <a:r>
              <a:rPr lang="en-US" sz="11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EF4444"/>
                </a:solidFill>
                <a:latin typeface="Calibri" pitchFamily="34" charset="0"/>
                <a:ea typeface="Calibri" pitchFamily="34" charset="-122"/>
                <a:cs typeface="Calibri" pitchFamily="34" charset="-120"/>
              </a:rPr>
              <a:t>Result: Regulatory action + liability</a:t>
            </a:r>
            <a:endParaRPr lang="en-US" sz="1100" dirty="0"/>
          </a:p>
        </p:txBody>
      </p:sp>
      <p:sp>
        <p:nvSpPr>
          <p:cNvPr id="7" name="Text 5"/>
          <p:cNvSpPr/>
          <p:nvPr/>
        </p:nvSpPr>
        <p:spPr>
          <a:xfrm>
            <a:off x="6217920" y="914400"/>
            <a:ext cx="5303520" cy="347472"/>
          </a:xfrm>
          <a:prstGeom prst="rect">
            <a:avLst/>
          </a:prstGeom>
          <a:noFill/>
          <a:ln/>
        </p:spPr>
        <p:txBody>
          <a:bodyPr wrap="square" lIns="0" tIns="0" rIns="0" bIns="0" rtlCol="0" anchor="ctr"/>
          <a:lstStyle/>
          <a:p>
            <a:pPr indent="0" marL="0">
              <a:buNone/>
            </a:pPr>
            <a:r>
              <a:rPr lang="en-US" sz="1300" b="1" dirty="0">
                <a:solidFill>
                  <a:srgbClr val="84CC16"/>
                </a:solidFill>
                <a:latin typeface="Trebuchet MS" pitchFamily="34" charset="0"/>
                <a:ea typeface="Trebuchet MS" pitchFamily="34" charset="-122"/>
                <a:cs typeface="Trebuchet MS" pitchFamily="34" charset="-120"/>
              </a:rPr>
              <a:t>✓  What the system does</a:t>
            </a:r>
            <a:endParaRPr lang="en-US" sz="1300" dirty="0"/>
          </a:p>
        </p:txBody>
      </p:sp>
      <p:sp>
        <p:nvSpPr>
          <p:cNvPr id="8" name="Shape 6"/>
          <p:cNvSpPr/>
          <p:nvPr/>
        </p:nvSpPr>
        <p:spPr>
          <a:xfrm>
            <a:off x="6217920" y="1325880"/>
            <a:ext cx="5303520" cy="3886200"/>
          </a:xfrm>
          <a:prstGeom prst="rect">
            <a:avLst/>
          </a:prstGeom>
          <a:solidFill>
            <a:srgbClr val="0A1A0A"/>
          </a:solidFill>
          <a:ln w="12700">
            <a:solidFill>
              <a:srgbClr val="84CC16"/>
            </a:solidFill>
            <a:prstDash val="solid"/>
          </a:ln>
        </p:spPr>
      </p:sp>
      <p:sp>
        <p:nvSpPr>
          <p:cNvPr id="9" name="Text 7"/>
          <p:cNvSpPr/>
          <p:nvPr/>
        </p:nvSpPr>
        <p:spPr>
          <a:xfrm>
            <a:off x="6400800" y="1508760"/>
            <a:ext cx="4937760" cy="35204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Step 1: Rule-based pre-check (fha_checker.py)</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 City-specific ordinance lookup</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 Deterministic, auditable</a:t>
            </a:r>
            <a:endParaRPr lang="en-US" sz="1100" dirty="0"/>
          </a:p>
          <a:p>
            <a:pPr indent="0" marL="0">
              <a:buNone/>
            </a:pPr>
            <a:r>
              <a:rPr lang="en-US" sz="11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Step 2: Claude contextual analysis</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 Validates flags</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  → Generates compliant language</a:t>
            </a:r>
            <a:endParaRPr lang="en-US" sz="1100" dirty="0"/>
          </a:p>
          <a:p>
            <a:pPr indent="0" marL="0">
              <a:buNone/>
            </a:pPr>
            <a:r>
              <a:rPr lang="en-US" sz="11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a:p>
            <a:pPr indent="0" marL="0">
              <a:buNone/>
            </a:pPr>
            <a:r>
              <a:rPr lang="en-US" sz="1100" dirty="0">
                <a:solidFill>
                  <a:srgbClr val="84CC16"/>
                </a:solidFill>
                <a:latin typeface="Calibri" pitchFamily="34" charset="0"/>
                <a:ea typeface="Calibri" pitchFamily="34" charset="-122"/>
                <a:cs typeface="Calibri" pitchFamily="34" charset="-120"/>
              </a:rPr>
              <a:t>"Combined income $5,300/mo = 3.27× rent.</a:t>
            </a:r>
            <a:endParaRPr lang="en-US" sz="1100" dirty="0"/>
          </a:p>
          <a:p>
            <a:pPr indent="0" marL="0">
              <a:buNone/>
            </a:pPr>
            <a:r>
              <a:rPr lang="en-US" sz="1100" dirty="0">
                <a:solidFill>
                  <a:srgbClr val="84CC16"/>
                </a:solidFill>
                <a:latin typeface="Calibri" pitchFamily="34" charset="0"/>
                <a:ea typeface="Calibri" pitchFamily="34" charset="-122"/>
                <a:cs typeface="Calibri" pitchFamily="34" charset="-120"/>
              </a:rPr>
              <a:t>She qualifies. Rejection on voucher status</a:t>
            </a:r>
            <a:endParaRPr lang="en-US" sz="1100" dirty="0"/>
          </a:p>
          <a:p>
            <a:pPr indent="0" marL="0">
              <a:buNone/>
            </a:pPr>
            <a:r>
              <a:rPr lang="en-US" sz="1100" dirty="0">
                <a:solidFill>
                  <a:srgbClr val="84CC16"/>
                </a:solidFill>
                <a:latin typeface="Calibri" pitchFamily="34" charset="0"/>
                <a:ea typeface="Calibri" pitchFamily="34" charset="-122"/>
                <a:cs typeface="Calibri" pitchFamily="34" charset="-120"/>
              </a:rPr>
              <a:t>= FHA violation in Austin, TX."</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 FHA panel fires red, blocks denial</a:t>
            </a:r>
            <a:endParaRPr lang="en-US" sz="1100" dirty="0"/>
          </a:p>
        </p:txBody>
      </p:sp>
      <p:sp>
        <p:nvSpPr>
          <p:cNvPr id="10" name="Shape 8"/>
          <p:cNvSpPr/>
          <p:nvPr/>
        </p:nvSpPr>
        <p:spPr>
          <a:xfrm>
            <a:off x="365760" y="5440680"/>
            <a:ext cx="11430000" cy="1097280"/>
          </a:xfrm>
          <a:prstGeom prst="rect">
            <a:avLst/>
          </a:prstGeom>
          <a:solidFill>
            <a:srgbClr val="0F1F0F"/>
          </a:solidFill>
          <a:ln w="12700">
            <a:solidFill>
              <a:srgbClr val="0F1F0F"/>
            </a:solidFill>
            <a:prstDash val="solid"/>
          </a:ln>
        </p:spPr>
      </p:sp>
      <p:sp>
        <p:nvSpPr>
          <p:cNvPr id="11" name="Shape 9"/>
          <p:cNvSpPr/>
          <p:nvPr/>
        </p:nvSpPr>
        <p:spPr>
          <a:xfrm>
            <a:off x="365760" y="5440680"/>
            <a:ext cx="64008" cy="1097280"/>
          </a:xfrm>
          <a:prstGeom prst="rect">
            <a:avLst/>
          </a:prstGeom>
          <a:solidFill>
            <a:srgbClr val="84CC16"/>
          </a:solidFill>
          <a:ln w="12700">
            <a:solidFill>
              <a:srgbClr val="84CC16"/>
            </a:solidFill>
            <a:prstDash val="solid"/>
          </a:ln>
        </p:spPr>
      </p:sp>
      <p:sp>
        <p:nvSpPr>
          <p:cNvPr id="12" name="Text 10"/>
          <p:cNvSpPr/>
          <p:nvPr/>
        </p:nvSpPr>
        <p:spPr>
          <a:xfrm>
            <a:off x="566928" y="5532120"/>
            <a:ext cx="11064240" cy="91440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Fair Housing violations: $25,000–$100,000+ per incident. The compliance layer is what separates a toy from a real product.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9144000" cy="54864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Finance Logic in Code</a:t>
            </a:r>
            <a:endParaRPr lang="en-US" sz="3200" dirty="0"/>
          </a:p>
        </p:txBody>
      </p:sp>
      <p:sp>
        <p:nvSpPr>
          <p:cNvPr id="3" name="Text 1"/>
          <p:cNvSpPr/>
          <p:nvPr/>
        </p:nvSpPr>
        <p:spPr>
          <a:xfrm>
            <a:off x="457200" y="804672"/>
            <a:ext cx="9144000" cy="320040"/>
          </a:xfrm>
          <a:prstGeom prst="rect">
            <a:avLst/>
          </a:prstGeom>
          <a:noFill/>
          <a:ln/>
        </p:spPr>
        <p:txBody>
          <a:bodyPr wrap="square" lIns="0" tIns="0" rIns="0" bIns="0" rtlCol="0" anchor="ctr"/>
          <a:lstStyle/>
          <a:p>
            <a:pPr indent="0" marL="0">
              <a:buNone/>
            </a:pPr>
            <a:r>
              <a:rPr lang="en-US" sz="1400" dirty="0">
                <a:solidFill>
                  <a:srgbClr val="84CC16"/>
                </a:solidFill>
                <a:latin typeface="Calibri" pitchFamily="34" charset="0"/>
                <a:ea typeface="Calibri" pitchFamily="34" charset="-122"/>
                <a:cs typeface="Calibri" pitchFamily="34" charset="-120"/>
              </a:rPr>
              <a:t>Not 'raise rent 10%' — expected value underwriting</a:t>
            </a:r>
            <a:endParaRPr lang="en-US" sz="1400" dirty="0"/>
          </a:p>
        </p:txBody>
      </p:sp>
      <p:sp>
        <p:nvSpPr>
          <p:cNvPr id="4" name="Shape 2"/>
          <p:cNvSpPr/>
          <p:nvPr/>
        </p:nvSpPr>
        <p:spPr>
          <a:xfrm>
            <a:off x="365760" y="1234440"/>
            <a:ext cx="5303520" cy="3566160"/>
          </a:xfrm>
          <a:prstGeom prst="rect">
            <a:avLst/>
          </a:prstGeom>
          <a:solidFill>
            <a:srgbClr val="080D14"/>
          </a:solidFill>
          <a:ln w="19050">
            <a:solidFill>
              <a:srgbClr val="1E3A2F"/>
            </a:solidFill>
            <a:prstDash val="solid"/>
          </a:ln>
        </p:spPr>
      </p:sp>
      <p:sp>
        <p:nvSpPr>
          <p:cNvPr id="5" name="Text 3"/>
          <p:cNvSpPr/>
          <p:nvPr/>
        </p:nvSpPr>
        <p:spPr>
          <a:xfrm>
            <a:off x="548640" y="1417320"/>
            <a:ext cx="4937760" cy="3200400"/>
          </a:xfrm>
          <a:prstGeom prst="rect">
            <a:avLst/>
          </a:prstGeom>
          <a:noFill/>
          <a:ln/>
        </p:spPr>
        <p:txBody>
          <a:bodyPr wrap="square" lIns="0" tIns="0" rIns="0" bIns="0" rtlCol="0" anchor="t"/>
          <a:lstStyle/>
          <a:p>
            <a:pPr indent="0" marL="0">
              <a:buNone/>
            </a:pPr>
            <a:r>
              <a:rPr lang="en-US" sz="1000" dirty="0">
                <a:solidFill>
                  <a:srgbClr val="84CC16"/>
                </a:solidFill>
                <a:latin typeface="Consolas" pitchFamily="34" charset="0"/>
                <a:ea typeface="Consolas" pitchFamily="34" charset="-122"/>
                <a:cs typeface="Consolas" pitchFamily="34" charset="-120"/>
              </a:rPr>
              <a:t>P(vacancy) = base_rate</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           × credit_factor</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           × employment_factor</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           × payment_factor</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P(eviction) = base_rate</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            × eviction_history</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            × credit_factor</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12-mo Revenue =</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  Rent × 12 × (1 − P(vacancy))</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  − Eviction_Cost × P(eviction)</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Δ vs. Market =</a:t>
            </a:r>
            <a:endParaRPr lang="en-US" sz="1000" dirty="0"/>
          </a:p>
          <a:p>
            <a:pPr indent="0" marL="0">
              <a:buNone/>
            </a:pPr>
            <a:r>
              <a:rPr lang="en-US" sz="1000" dirty="0">
                <a:solidFill>
                  <a:srgbClr val="84CC16"/>
                </a:solidFill>
                <a:latin typeface="Consolas" pitchFamily="34" charset="0"/>
                <a:ea typeface="Consolas" pitchFamily="34" charset="-122"/>
                <a:cs typeface="Consolas" pitchFamily="34" charset="-120"/>
              </a:rPr>
              <a:t>  Applicant_Revenue − Market_Avg</a:t>
            </a:r>
            <a:endParaRPr lang="en-US" sz="1000" dirty="0"/>
          </a:p>
        </p:txBody>
      </p:sp>
      <p:sp>
        <p:nvSpPr>
          <p:cNvPr id="6" name="Shape 4"/>
          <p:cNvSpPr/>
          <p:nvPr/>
        </p:nvSpPr>
        <p:spPr>
          <a:xfrm>
            <a:off x="365760" y="4983480"/>
            <a:ext cx="2468880" cy="777240"/>
          </a:xfrm>
          <a:prstGeom prst="rect">
            <a:avLst/>
          </a:prstGeom>
          <a:solidFill>
            <a:srgbClr val="161B27"/>
          </a:solidFill>
          <a:ln w="12700">
            <a:solidFill>
              <a:srgbClr val="1E2D1E"/>
            </a:solidFill>
            <a:prstDash val="solid"/>
          </a:ln>
        </p:spPr>
      </p:sp>
      <p:sp>
        <p:nvSpPr>
          <p:cNvPr id="7" name="Text 5"/>
          <p:cNvSpPr/>
          <p:nvPr/>
        </p:nvSpPr>
        <p:spPr>
          <a:xfrm>
            <a:off x="457200" y="5029200"/>
            <a:ext cx="2286000" cy="384048"/>
          </a:xfrm>
          <a:prstGeom prst="rect">
            <a:avLst/>
          </a:prstGeom>
          <a:noFill/>
          <a:ln/>
        </p:spPr>
        <p:txBody>
          <a:bodyPr wrap="square" lIns="0" tIns="0" rIns="0" bIns="0" rtlCol="0" anchor="ctr"/>
          <a:lstStyle/>
          <a:p>
            <a:pPr algn="ctr" indent="0" marL="0">
              <a:buNone/>
            </a:pPr>
            <a:r>
              <a:rPr lang="en-US" sz="2200" b="1" dirty="0">
                <a:solidFill>
                  <a:srgbClr val="84CC16"/>
                </a:solidFill>
                <a:latin typeface="Trebuchet MS" pitchFamily="34" charset="0"/>
                <a:ea typeface="Trebuchet MS" pitchFamily="34" charset="-122"/>
                <a:cs typeface="Trebuchet MS" pitchFamily="34" charset="-120"/>
              </a:rPr>
              <a:t>$3,200</a:t>
            </a:r>
            <a:endParaRPr lang="en-US" sz="2200" dirty="0"/>
          </a:p>
        </p:txBody>
      </p:sp>
      <p:sp>
        <p:nvSpPr>
          <p:cNvPr id="8" name="Text 6"/>
          <p:cNvSpPr/>
          <p:nvPr/>
        </p:nvSpPr>
        <p:spPr>
          <a:xfrm>
            <a:off x="457200" y="5413248"/>
            <a:ext cx="22860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vacancy cost/unit</a:t>
            </a:r>
            <a:endParaRPr lang="en-US" sz="900" dirty="0"/>
          </a:p>
        </p:txBody>
      </p:sp>
      <p:sp>
        <p:nvSpPr>
          <p:cNvPr id="9" name="Shape 7"/>
          <p:cNvSpPr/>
          <p:nvPr/>
        </p:nvSpPr>
        <p:spPr>
          <a:xfrm>
            <a:off x="3108960" y="4983480"/>
            <a:ext cx="2468880" cy="777240"/>
          </a:xfrm>
          <a:prstGeom prst="rect">
            <a:avLst/>
          </a:prstGeom>
          <a:solidFill>
            <a:srgbClr val="161B27"/>
          </a:solidFill>
          <a:ln w="12700">
            <a:solidFill>
              <a:srgbClr val="1E2D1E"/>
            </a:solidFill>
            <a:prstDash val="solid"/>
          </a:ln>
        </p:spPr>
      </p:sp>
      <p:sp>
        <p:nvSpPr>
          <p:cNvPr id="10" name="Text 8"/>
          <p:cNvSpPr/>
          <p:nvPr/>
        </p:nvSpPr>
        <p:spPr>
          <a:xfrm>
            <a:off x="3200400" y="5029200"/>
            <a:ext cx="2286000" cy="384048"/>
          </a:xfrm>
          <a:prstGeom prst="rect">
            <a:avLst/>
          </a:prstGeom>
          <a:noFill/>
          <a:ln/>
        </p:spPr>
        <p:txBody>
          <a:bodyPr wrap="square" lIns="0" tIns="0" rIns="0" bIns="0" rtlCol="0" anchor="ctr"/>
          <a:lstStyle/>
          <a:p>
            <a:pPr algn="ctr" indent="0" marL="0">
              <a:buNone/>
            </a:pPr>
            <a:r>
              <a:rPr lang="en-US" sz="2200" b="1" dirty="0">
                <a:solidFill>
                  <a:srgbClr val="84CC16"/>
                </a:solidFill>
                <a:latin typeface="Trebuchet MS" pitchFamily="34" charset="0"/>
                <a:ea typeface="Trebuchet MS" pitchFamily="34" charset="-122"/>
                <a:cs typeface="Trebuchet MS" pitchFamily="34" charset="-120"/>
              </a:rPr>
              <a:t>$6,500</a:t>
            </a:r>
            <a:endParaRPr lang="en-US" sz="2200" dirty="0"/>
          </a:p>
        </p:txBody>
      </p:sp>
      <p:sp>
        <p:nvSpPr>
          <p:cNvPr id="11" name="Text 9"/>
          <p:cNvSpPr/>
          <p:nvPr/>
        </p:nvSpPr>
        <p:spPr>
          <a:xfrm>
            <a:off x="3200400" y="5413248"/>
            <a:ext cx="22860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eviction cost est.</a:t>
            </a:r>
            <a:endParaRPr lang="en-US" sz="900" dirty="0"/>
          </a:p>
        </p:txBody>
      </p:sp>
      <p:sp>
        <p:nvSpPr>
          <p:cNvPr id="12" name="Shape 10"/>
          <p:cNvSpPr/>
          <p:nvPr/>
        </p:nvSpPr>
        <p:spPr>
          <a:xfrm>
            <a:off x="6217920" y="1234440"/>
            <a:ext cx="5486400" cy="1920240"/>
          </a:xfrm>
          <a:prstGeom prst="rect">
            <a:avLst/>
          </a:prstGeom>
          <a:solidFill>
            <a:srgbClr val="161B27"/>
          </a:solidFill>
          <a:ln w="19050">
            <a:solidFill>
              <a:srgbClr val="84CC16"/>
            </a:solidFill>
            <a:prstDash val="solid"/>
          </a:ln>
        </p:spPr>
      </p:sp>
      <p:sp>
        <p:nvSpPr>
          <p:cNvPr id="13" name="Shape 11"/>
          <p:cNvSpPr/>
          <p:nvPr/>
        </p:nvSpPr>
        <p:spPr>
          <a:xfrm>
            <a:off x="6217920" y="1234440"/>
            <a:ext cx="5486400" cy="384048"/>
          </a:xfrm>
          <a:prstGeom prst="rect">
            <a:avLst/>
          </a:prstGeom>
          <a:solidFill>
            <a:srgbClr val="0E1A0E"/>
          </a:solidFill>
          <a:ln w="12700">
            <a:solidFill>
              <a:srgbClr val="84CC16"/>
            </a:solidFill>
            <a:prstDash val="solid"/>
          </a:ln>
        </p:spPr>
      </p:sp>
      <p:sp>
        <p:nvSpPr>
          <p:cNvPr id="14" name="Text 12"/>
          <p:cNvSpPr/>
          <p:nvPr/>
        </p:nvSpPr>
        <p:spPr>
          <a:xfrm>
            <a:off x="6355080" y="1298448"/>
            <a:ext cx="5212080" cy="274320"/>
          </a:xfrm>
          <a:prstGeom prst="rect">
            <a:avLst/>
          </a:prstGeom>
          <a:noFill/>
          <a:ln/>
        </p:spPr>
        <p:txBody>
          <a:bodyPr wrap="square" lIns="0" tIns="0" rIns="0" bIns="0" rtlCol="0" anchor="ctr"/>
          <a:lstStyle/>
          <a:p>
            <a:pPr indent="0" marL="0">
              <a:buNone/>
            </a:pPr>
            <a:r>
              <a:rPr lang="en-US" sz="1200" b="1" dirty="0">
                <a:solidFill>
                  <a:srgbClr val="84CC16"/>
                </a:solidFill>
                <a:latin typeface="Trebuchet MS" pitchFamily="34" charset="0"/>
                <a:ea typeface="Trebuchet MS" pitchFamily="34" charset="-122"/>
                <a:cs typeface="Trebuchet MS" pitchFamily="34" charset="-120"/>
              </a:rPr>
              <a:t>Sarah Chen — APPROVED 94%</a:t>
            </a:r>
            <a:endParaRPr lang="en-US" sz="1200" dirty="0"/>
          </a:p>
        </p:txBody>
      </p:sp>
      <p:sp>
        <p:nvSpPr>
          <p:cNvPr id="15" name="Text 13"/>
          <p:cNvSpPr/>
          <p:nvPr/>
        </p:nvSpPr>
        <p:spPr>
          <a:xfrm>
            <a:off x="6400800" y="1737360"/>
            <a:ext cx="5120640" cy="128016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Delta vs market: +$0 (baseline)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Clears all thresholds</a:t>
            </a:r>
            <a:endParaRPr lang="en-US" sz="1100" dirty="0"/>
          </a:p>
        </p:txBody>
      </p:sp>
      <p:sp>
        <p:nvSpPr>
          <p:cNvPr id="16" name="Shape 14"/>
          <p:cNvSpPr/>
          <p:nvPr/>
        </p:nvSpPr>
        <p:spPr>
          <a:xfrm>
            <a:off x="6217920" y="3429000"/>
            <a:ext cx="5486400" cy="2103120"/>
          </a:xfrm>
          <a:prstGeom prst="rect">
            <a:avLst/>
          </a:prstGeom>
          <a:solidFill>
            <a:srgbClr val="161B27"/>
          </a:solidFill>
          <a:ln w="19050">
            <a:solidFill>
              <a:srgbClr val="EF4444"/>
            </a:solidFill>
            <a:prstDash val="solid"/>
          </a:ln>
        </p:spPr>
      </p:sp>
      <p:sp>
        <p:nvSpPr>
          <p:cNvPr id="17" name="Shape 15"/>
          <p:cNvSpPr/>
          <p:nvPr/>
        </p:nvSpPr>
        <p:spPr>
          <a:xfrm>
            <a:off x="6217920" y="3429000"/>
            <a:ext cx="5486400" cy="384048"/>
          </a:xfrm>
          <a:prstGeom prst="rect">
            <a:avLst/>
          </a:prstGeom>
          <a:solidFill>
            <a:srgbClr val="1A0A0A"/>
          </a:solidFill>
          <a:ln w="12700">
            <a:solidFill>
              <a:srgbClr val="EF4444"/>
            </a:solidFill>
            <a:prstDash val="solid"/>
          </a:ln>
        </p:spPr>
      </p:sp>
      <p:sp>
        <p:nvSpPr>
          <p:cNvPr id="18" name="Text 16"/>
          <p:cNvSpPr/>
          <p:nvPr/>
        </p:nvSpPr>
        <p:spPr>
          <a:xfrm>
            <a:off x="6355080" y="3493008"/>
            <a:ext cx="5212080" cy="274320"/>
          </a:xfrm>
          <a:prstGeom prst="rect">
            <a:avLst/>
          </a:prstGeom>
          <a:noFill/>
          <a:ln/>
        </p:spPr>
        <p:txBody>
          <a:bodyPr wrap="square" lIns="0" tIns="0" rIns="0" bIns="0" rtlCol="0" anchor="ctr"/>
          <a:lstStyle/>
          <a:p>
            <a:pPr indent="0" marL="0">
              <a:buNone/>
            </a:pPr>
            <a:r>
              <a:rPr lang="en-US" sz="1200" b="1" dirty="0">
                <a:solidFill>
                  <a:srgbClr val="EF4444"/>
                </a:solidFill>
                <a:latin typeface="Trebuchet MS" pitchFamily="34" charset="0"/>
                <a:ea typeface="Trebuchet MS" pitchFamily="34" charset="-122"/>
                <a:cs typeface="Trebuchet MS" pitchFamily="34" charset="-120"/>
              </a:rPr>
              <a:t>Devon Walsh — DENIED</a:t>
            </a:r>
            <a:endParaRPr lang="en-US" sz="1200" dirty="0"/>
          </a:p>
        </p:txBody>
      </p:sp>
      <p:sp>
        <p:nvSpPr>
          <p:cNvPr id="19" name="Text 17"/>
          <p:cNvSpPr/>
          <p:nvPr/>
        </p:nvSpPr>
        <p:spPr>
          <a:xfrm>
            <a:off x="6400800" y="3931920"/>
            <a:ext cx="5120640" cy="146304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Delta vs market: −$2,400</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Eviction risk: +$6,500</a:t>
            </a:r>
            <a:endParaRPr lang="en-US" sz="1100" dirty="0"/>
          </a:p>
          <a:p>
            <a:pPr indent="0" marL="0">
              <a:buNone/>
            </a:pPr>
            <a:r>
              <a:rPr lang="en-US" sz="1100" dirty="0">
                <a:solidFill>
                  <a:srgbClr val="EF4444"/>
                </a:solidFill>
                <a:latin typeface="Calibri" pitchFamily="34" charset="0"/>
                <a:ea typeface="Calibri" pitchFamily="34" charset="-122"/>
                <a:cs typeface="Calibri" pitchFamily="34" charset="-120"/>
              </a:rPr>
              <a:t>Below 3× standard + derogatory history</a:t>
            </a:r>
            <a:endParaRPr lang="en-US" sz="1100" dirty="0"/>
          </a:p>
        </p:txBody>
      </p:sp>
      <p:sp>
        <p:nvSpPr>
          <p:cNvPr id="20" name="Text 18"/>
          <p:cNvSpPr/>
          <p:nvPr/>
        </p:nvSpPr>
        <p:spPr>
          <a:xfrm>
            <a:off x="365760" y="6400800"/>
            <a:ext cx="11430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Rent optimization panel uses same EV logic: P(retention) × annual uplift vs. P(churn) × vacancy cost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4572000" cy="54864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Stack</a:t>
            </a:r>
            <a:endParaRPr lang="en-US" sz="3200" dirty="0"/>
          </a:p>
        </p:txBody>
      </p:sp>
      <p:sp>
        <p:nvSpPr>
          <p:cNvPr id="3" name="Shape 1"/>
          <p:cNvSpPr/>
          <p:nvPr/>
        </p:nvSpPr>
        <p:spPr>
          <a:xfrm>
            <a:off x="365760" y="1005840"/>
            <a:ext cx="2697480" cy="5394960"/>
          </a:xfrm>
          <a:prstGeom prst="rect">
            <a:avLst/>
          </a:prstGeom>
          <a:solidFill>
            <a:srgbClr val="161B27"/>
          </a:solidFill>
          <a:ln w="19050">
            <a:solidFill>
              <a:srgbClr val="1E2A3A"/>
            </a:solidFill>
            <a:prstDash val="solid"/>
          </a:ln>
        </p:spPr>
      </p:sp>
      <p:sp>
        <p:nvSpPr>
          <p:cNvPr id="4" name="Shape 2"/>
          <p:cNvSpPr/>
          <p:nvPr/>
        </p:nvSpPr>
        <p:spPr>
          <a:xfrm>
            <a:off x="365760" y="1005840"/>
            <a:ext cx="2697480" cy="384048"/>
          </a:xfrm>
          <a:prstGeom prst="rect">
            <a:avLst/>
          </a:prstGeom>
          <a:solidFill>
            <a:srgbClr val="0E1A0E"/>
          </a:solidFill>
          <a:ln w="12700">
            <a:solidFill>
              <a:srgbClr val="1E2A3A"/>
            </a:solidFill>
            <a:prstDash val="solid"/>
          </a:ln>
        </p:spPr>
      </p:sp>
      <p:sp>
        <p:nvSpPr>
          <p:cNvPr id="5" name="Text 3"/>
          <p:cNvSpPr/>
          <p:nvPr/>
        </p:nvSpPr>
        <p:spPr>
          <a:xfrm>
            <a:off x="475488" y="1069848"/>
            <a:ext cx="2478024" cy="274320"/>
          </a:xfrm>
          <a:prstGeom prst="rect">
            <a:avLst/>
          </a:prstGeom>
          <a:noFill/>
          <a:ln/>
        </p:spPr>
        <p:txBody>
          <a:bodyPr wrap="square" lIns="0" tIns="0" rIns="0" bIns="0" rtlCol="0" anchor="ctr"/>
          <a:lstStyle/>
          <a:p>
            <a:pPr indent="0" marL="0">
              <a:buNone/>
            </a:pPr>
            <a:r>
              <a:rPr lang="en-US" sz="1200" b="1" dirty="0">
                <a:solidFill>
                  <a:srgbClr val="84CC16"/>
                </a:solidFill>
                <a:latin typeface="Trebuchet MS" pitchFamily="34" charset="0"/>
                <a:ea typeface="Trebuchet MS" pitchFamily="34" charset="-122"/>
                <a:cs typeface="Trebuchet MS" pitchFamily="34" charset="-120"/>
              </a:rPr>
              <a:t>Backend</a:t>
            </a:r>
            <a:endParaRPr lang="en-US" sz="1200" dirty="0"/>
          </a:p>
        </p:txBody>
      </p:sp>
      <p:sp>
        <p:nvSpPr>
          <p:cNvPr id="6" name="Text 4"/>
          <p:cNvSpPr/>
          <p:nvPr/>
        </p:nvSpPr>
        <p:spPr>
          <a:xfrm>
            <a:off x="475488" y="1572768"/>
            <a:ext cx="2478024"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FastAPI (Python)</a:t>
            </a:r>
            <a:endParaRPr lang="en-US" sz="1100" dirty="0"/>
          </a:p>
        </p:txBody>
      </p:sp>
      <p:sp>
        <p:nvSpPr>
          <p:cNvPr id="7" name="Text 5"/>
          <p:cNvSpPr/>
          <p:nvPr/>
        </p:nvSpPr>
        <p:spPr>
          <a:xfrm>
            <a:off x="475488" y="192024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REST + SSE endpoints</a:t>
            </a:r>
            <a:endParaRPr lang="en-US" sz="1000" dirty="0"/>
          </a:p>
        </p:txBody>
      </p:sp>
      <p:sp>
        <p:nvSpPr>
          <p:cNvPr id="8" name="Shape 6"/>
          <p:cNvSpPr/>
          <p:nvPr/>
        </p:nvSpPr>
        <p:spPr>
          <a:xfrm>
            <a:off x="502920" y="2514600"/>
            <a:ext cx="2423160" cy="0"/>
          </a:xfrm>
          <a:prstGeom prst="line">
            <a:avLst/>
          </a:prstGeom>
          <a:noFill/>
          <a:ln w="6350">
            <a:solidFill>
              <a:srgbClr val="1E2A3A"/>
            </a:solidFill>
            <a:prstDash val="solid"/>
          </a:ln>
        </p:spPr>
      </p:sp>
      <p:sp>
        <p:nvSpPr>
          <p:cNvPr id="9" name="Text 7"/>
          <p:cNvSpPr/>
          <p:nvPr/>
        </p:nvSpPr>
        <p:spPr>
          <a:xfrm>
            <a:off x="475488" y="2578608"/>
            <a:ext cx="2478024"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Pydantic v2</a:t>
            </a:r>
            <a:endParaRPr lang="en-US" sz="1100" dirty="0"/>
          </a:p>
        </p:txBody>
      </p:sp>
      <p:sp>
        <p:nvSpPr>
          <p:cNvPr id="10" name="Text 8"/>
          <p:cNvSpPr/>
          <p:nvPr/>
        </p:nvSpPr>
        <p:spPr>
          <a:xfrm>
            <a:off x="475488" y="292608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Validation + settings</a:t>
            </a:r>
            <a:endParaRPr lang="en-US" sz="1000" dirty="0"/>
          </a:p>
        </p:txBody>
      </p:sp>
      <p:sp>
        <p:nvSpPr>
          <p:cNvPr id="11" name="Shape 9"/>
          <p:cNvSpPr/>
          <p:nvPr/>
        </p:nvSpPr>
        <p:spPr>
          <a:xfrm>
            <a:off x="502920" y="3520440"/>
            <a:ext cx="2423160" cy="0"/>
          </a:xfrm>
          <a:prstGeom prst="line">
            <a:avLst/>
          </a:prstGeom>
          <a:noFill/>
          <a:ln w="6350">
            <a:solidFill>
              <a:srgbClr val="1E2A3A"/>
            </a:solidFill>
            <a:prstDash val="solid"/>
          </a:ln>
        </p:spPr>
      </p:sp>
      <p:sp>
        <p:nvSpPr>
          <p:cNvPr id="12" name="Text 10"/>
          <p:cNvSpPr/>
          <p:nvPr/>
        </p:nvSpPr>
        <p:spPr>
          <a:xfrm>
            <a:off x="475488" y="3584448"/>
            <a:ext cx="2478024"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Anthropic Python SDK</a:t>
            </a:r>
            <a:endParaRPr lang="en-US" sz="1100" dirty="0"/>
          </a:p>
        </p:txBody>
      </p:sp>
      <p:sp>
        <p:nvSpPr>
          <p:cNvPr id="13" name="Text 11"/>
          <p:cNvSpPr/>
          <p:nvPr/>
        </p:nvSpPr>
        <p:spPr>
          <a:xfrm>
            <a:off x="475488" y="393192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Two-call pattern</a:t>
            </a:r>
            <a:endParaRPr lang="en-US" sz="1000" dirty="0"/>
          </a:p>
        </p:txBody>
      </p:sp>
      <p:sp>
        <p:nvSpPr>
          <p:cNvPr id="14" name="Shape 12"/>
          <p:cNvSpPr/>
          <p:nvPr/>
        </p:nvSpPr>
        <p:spPr>
          <a:xfrm>
            <a:off x="502920" y="4526280"/>
            <a:ext cx="2423160" cy="0"/>
          </a:xfrm>
          <a:prstGeom prst="line">
            <a:avLst/>
          </a:prstGeom>
          <a:noFill/>
          <a:ln w="6350">
            <a:solidFill>
              <a:srgbClr val="1E2A3A"/>
            </a:solidFill>
            <a:prstDash val="solid"/>
          </a:ln>
        </p:spPr>
      </p:sp>
      <p:sp>
        <p:nvSpPr>
          <p:cNvPr id="15" name="Text 13"/>
          <p:cNvSpPr/>
          <p:nvPr/>
        </p:nvSpPr>
        <p:spPr>
          <a:xfrm>
            <a:off x="475488" y="4590288"/>
            <a:ext cx="2478024"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Pure Python</a:t>
            </a:r>
            <a:endParaRPr lang="en-US" sz="1100" dirty="0"/>
          </a:p>
        </p:txBody>
      </p:sp>
      <p:sp>
        <p:nvSpPr>
          <p:cNvPr id="16" name="Text 14"/>
          <p:cNvSpPr/>
          <p:nvPr/>
        </p:nvSpPr>
        <p:spPr>
          <a:xfrm>
            <a:off x="475488" y="493776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Financial model</a:t>
            </a:r>
            <a:endParaRPr lang="en-US" sz="1000" dirty="0"/>
          </a:p>
        </p:txBody>
      </p:sp>
      <p:sp>
        <p:nvSpPr>
          <p:cNvPr id="17" name="Shape 15"/>
          <p:cNvSpPr/>
          <p:nvPr/>
        </p:nvSpPr>
        <p:spPr>
          <a:xfrm>
            <a:off x="3246120" y="1005840"/>
            <a:ext cx="2697480" cy="5394960"/>
          </a:xfrm>
          <a:prstGeom prst="rect">
            <a:avLst/>
          </a:prstGeom>
          <a:solidFill>
            <a:srgbClr val="161B27"/>
          </a:solidFill>
          <a:ln w="19050">
            <a:solidFill>
              <a:srgbClr val="1E2A3A"/>
            </a:solidFill>
            <a:prstDash val="solid"/>
          </a:ln>
        </p:spPr>
      </p:sp>
      <p:sp>
        <p:nvSpPr>
          <p:cNvPr id="18" name="Shape 16"/>
          <p:cNvSpPr/>
          <p:nvPr/>
        </p:nvSpPr>
        <p:spPr>
          <a:xfrm>
            <a:off x="3246120" y="1005840"/>
            <a:ext cx="2697480" cy="384048"/>
          </a:xfrm>
          <a:prstGeom prst="rect">
            <a:avLst/>
          </a:prstGeom>
          <a:solidFill>
            <a:srgbClr val="0E1A0E"/>
          </a:solidFill>
          <a:ln w="12700">
            <a:solidFill>
              <a:srgbClr val="1E2A3A"/>
            </a:solidFill>
            <a:prstDash val="solid"/>
          </a:ln>
        </p:spPr>
      </p:sp>
      <p:sp>
        <p:nvSpPr>
          <p:cNvPr id="19" name="Text 17"/>
          <p:cNvSpPr/>
          <p:nvPr/>
        </p:nvSpPr>
        <p:spPr>
          <a:xfrm>
            <a:off x="3355848" y="1069848"/>
            <a:ext cx="2478024" cy="274320"/>
          </a:xfrm>
          <a:prstGeom prst="rect">
            <a:avLst/>
          </a:prstGeom>
          <a:noFill/>
          <a:ln/>
        </p:spPr>
        <p:txBody>
          <a:bodyPr wrap="square" lIns="0" tIns="0" rIns="0" bIns="0" rtlCol="0" anchor="ctr"/>
          <a:lstStyle/>
          <a:p>
            <a:pPr indent="0" marL="0">
              <a:buNone/>
            </a:pPr>
            <a:r>
              <a:rPr lang="en-US" sz="1200" b="1" dirty="0">
                <a:solidFill>
                  <a:srgbClr val="84CC16"/>
                </a:solidFill>
                <a:latin typeface="Trebuchet MS" pitchFamily="34" charset="0"/>
                <a:ea typeface="Trebuchet MS" pitchFamily="34" charset="-122"/>
                <a:cs typeface="Trebuchet MS" pitchFamily="34" charset="-120"/>
              </a:rPr>
              <a:t>Frontend</a:t>
            </a:r>
            <a:endParaRPr lang="en-US" sz="1200" dirty="0"/>
          </a:p>
        </p:txBody>
      </p:sp>
      <p:sp>
        <p:nvSpPr>
          <p:cNvPr id="20" name="Text 18"/>
          <p:cNvSpPr/>
          <p:nvPr/>
        </p:nvSpPr>
        <p:spPr>
          <a:xfrm>
            <a:off x="3355848" y="1572768"/>
            <a:ext cx="2478024"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Next.js 14</a:t>
            </a:r>
            <a:endParaRPr lang="en-US" sz="1100" dirty="0"/>
          </a:p>
        </p:txBody>
      </p:sp>
      <p:sp>
        <p:nvSpPr>
          <p:cNvPr id="21" name="Text 19"/>
          <p:cNvSpPr/>
          <p:nvPr/>
        </p:nvSpPr>
        <p:spPr>
          <a:xfrm>
            <a:off x="3355848" y="192024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App Router + TypeScript</a:t>
            </a:r>
            <a:endParaRPr lang="en-US" sz="1000" dirty="0"/>
          </a:p>
        </p:txBody>
      </p:sp>
      <p:sp>
        <p:nvSpPr>
          <p:cNvPr id="22" name="Shape 20"/>
          <p:cNvSpPr/>
          <p:nvPr/>
        </p:nvSpPr>
        <p:spPr>
          <a:xfrm>
            <a:off x="3383280" y="2514600"/>
            <a:ext cx="2423160" cy="0"/>
          </a:xfrm>
          <a:prstGeom prst="line">
            <a:avLst/>
          </a:prstGeom>
          <a:noFill/>
          <a:ln w="6350">
            <a:solidFill>
              <a:srgbClr val="1E2A3A"/>
            </a:solidFill>
            <a:prstDash val="solid"/>
          </a:ln>
        </p:spPr>
      </p:sp>
      <p:sp>
        <p:nvSpPr>
          <p:cNvPr id="23" name="Text 21"/>
          <p:cNvSpPr/>
          <p:nvPr/>
        </p:nvSpPr>
        <p:spPr>
          <a:xfrm>
            <a:off x="3355848" y="2578608"/>
            <a:ext cx="2478024"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Tailwind CSS</a:t>
            </a:r>
            <a:endParaRPr lang="en-US" sz="1100" dirty="0"/>
          </a:p>
        </p:txBody>
      </p:sp>
      <p:sp>
        <p:nvSpPr>
          <p:cNvPr id="24" name="Text 22"/>
          <p:cNvSpPr/>
          <p:nvPr/>
        </p:nvSpPr>
        <p:spPr>
          <a:xfrm>
            <a:off x="3355848" y="292608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Dark theme · lime accent</a:t>
            </a:r>
            <a:endParaRPr lang="en-US" sz="1000" dirty="0"/>
          </a:p>
        </p:txBody>
      </p:sp>
      <p:sp>
        <p:nvSpPr>
          <p:cNvPr id="25" name="Shape 23"/>
          <p:cNvSpPr/>
          <p:nvPr/>
        </p:nvSpPr>
        <p:spPr>
          <a:xfrm>
            <a:off x="3383280" y="3520440"/>
            <a:ext cx="2423160" cy="0"/>
          </a:xfrm>
          <a:prstGeom prst="line">
            <a:avLst/>
          </a:prstGeom>
          <a:noFill/>
          <a:ln w="6350">
            <a:solidFill>
              <a:srgbClr val="1E2A3A"/>
            </a:solidFill>
            <a:prstDash val="solid"/>
          </a:ln>
        </p:spPr>
      </p:sp>
      <p:sp>
        <p:nvSpPr>
          <p:cNvPr id="26" name="Text 24"/>
          <p:cNvSpPr/>
          <p:nvPr/>
        </p:nvSpPr>
        <p:spPr>
          <a:xfrm>
            <a:off x="3355848" y="3584448"/>
            <a:ext cx="2478024"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Recharts</a:t>
            </a:r>
            <a:endParaRPr lang="en-US" sz="1100" dirty="0"/>
          </a:p>
        </p:txBody>
      </p:sp>
      <p:sp>
        <p:nvSpPr>
          <p:cNvPr id="27" name="Text 25"/>
          <p:cNvSpPr/>
          <p:nvPr/>
        </p:nvSpPr>
        <p:spPr>
          <a:xfrm>
            <a:off x="3355848" y="393192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NOI trend chart</a:t>
            </a:r>
            <a:endParaRPr lang="en-US" sz="1000" dirty="0"/>
          </a:p>
        </p:txBody>
      </p:sp>
      <p:sp>
        <p:nvSpPr>
          <p:cNvPr id="28" name="Shape 26"/>
          <p:cNvSpPr/>
          <p:nvPr/>
        </p:nvSpPr>
        <p:spPr>
          <a:xfrm>
            <a:off x="3383280" y="4526280"/>
            <a:ext cx="2423160" cy="0"/>
          </a:xfrm>
          <a:prstGeom prst="line">
            <a:avLst/>
          </a:prstGeom>
          <a:noFill/>
          <a:ln w="6350">
            <a:solidFill>
              <a:srgbClr val="1E2A3A"/>
            </a:solidFill>
            <a:prstDash val="solid"/>
          </a:ln>
        </p:spPr>
      </p:sp>
      <p:sp>
        <p:nvSpPr>
          <p:cNvPr id="29" name="Text 27"/>
          <p:cNvSpPr/>
          <p:nvPr/>
        </p:nvSpPr>
        <p:spPr>
          <a:xfrm>
            <a:off x="3355848" y="4590288"/>
            <a:ext cx="2478024"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ReadableStream</a:t>
            </a:r>
            <a:endParaRPr lang="en-US" sz="1100" dirty="0"/>
          </a:p>
        </p:txBody>
      </p:sp>
      <p:sp>
        <p:nvSpPr>
          <p:cNvPr id="30" name="Text 28"/>
          <p:cNvSpPr/>
          <p:nvPr/>
        </p:nvSpPr>
        <p:spPr>
          <a:xfrm>
            <a:off x="3355848" y="493776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SSE parsing</a:t>
            </a:r>
            <a:endParaRPr lang="en-US" sz="1000" dirty="0"/>
          </a:p>
        </p:txBody>
      </p:sp>
      <p:sp>
        <p:nvSpPr>
          <p:cNvPr id="31" name="Shape 29"/>
          <p:cNvSpPr/>
          <p:nvPr/>
        </p:nvSpPr>
        <p:spPr>
          <a:xfrm>
            <a:off x="6126480" y="1005840"/>
            <a:ext cx="2697480" cy="5394960"/>
          </a:xfrm>
          <a:prstGeom prst="rect">
            <a:avLst/>
          </a:prstGeom>
          <a:solidFill>
            <a:srgbClr val="161B27"/>
          </a:solidFill>
          <a:ln w="19050">
            <a:solidFill>
              <a:srgbClr val="1E2A3A"/>
            </a:solidFill>
            <a:prstDash val="solid"/>
          </a:ln>
        </p:spPr>
      </p:sp>
      <p:sp>
        <p:nvSpPr>
          <p:cNvPr id="32" name="Shape 30"/>
          <p:cNvSpPr/>
          <p:nvPr/>
        </p:nvSpPr>
        <p:spPr>
          <a:xfrm>
            <a:off x="6126480" y="1005840"/>
            <a:ext cx="2697480" cy="384048"/>
          </a:xfrm>
          <a:prstGeom prst="rect">
            <a:avLst/>
          </a:prstGeom>
          <a:solidFill>
            <a:srgbClr val="0E1A0E"/>
          </a:solidFill>
          <a:ln w="12700">
            <a:solidFill>
              <a:srgbClr val="1E2A3A"/>
            </a:solidFill>
            <a:prstDash val="solid"/>
          </a:ln>
        </p:spPr>
      </p:sp>
      <p:sp>
        <p:nvSpPr>
          <p:cNvPr id="33" name="Text 31"/>
          <p:cNvSpPr/>
          <p:nvPr/>
        </p:nvSpPr>
        <p:spPr>
          <a:xfrm>
            <a:off x="6236208" y="1069848"/>
            <a:ext cx="2478024" cy="274320"/>
          </a:xfrm>
          <a:prstGeom prst="rect">
            <a:avLst/>
          </a:prstGeom>
          <a:noFill/>
          <a:ln/>
        </p:spPr>
        <p:txBody>
          <a:bodyPr wrap="square" lIns="0" tIns="0" rIns="0" bIns="0" rtlCol="0" anchor="ctr"/>
          <a:lstStyle/>
          <a:p>
            <a:pPr indent="0" marL="0">
              <a:buNone/>
            </a:pPr>
            <a:r>
              <a:rPr lang="en-US" sz="1200" b="1" dirty="0">
                <a:solidFill>
                  <a:srgbClr val="84CC16"/>
                </a:solidFill>
                <a:latin typeface="Trebuchet MS" pitchFamily="34" charset="0"/>
                <a:ea typeface="Trebuchet MS" pitchFamily="34" charset="-122"/>
                <a:cs typeface="Trebuchet MS" pitchFamily="34" charset="-120"/>
              </a:rPr>
              <a:t>AI Layer</a:t>
            </a:r>
            <a:endParaRPr lang="en-US" sz="1200" dirty="0"/>
          </a:p>
        </p:txBody>
      </p:sp>
      <p:sp>
        <p:nvSpPr>
          <p:cNvPr id="34" name="Text 32"/>
          <p:cNvSpPr/>
          <p:nvPr/>
        </p:nvSpPr>
        <p:spPr>
          <a:xfrm>
            <a:off x="6236208" y="1572768"/>
            <a:ext cx="2478024"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Claude claude-sonnet-4-6</a:t>
            </a:r>
            <a:endParaRPr lang="en-US" sz="1100" dirty="0"/>
          </a:p>
        </p:txBody>
      </p:sp>
      <p:sp>
        <p:nvSpPr>
          <p:cNvPr id="35" name="Shape 33"/>
          <p:cNvSpPr/>
          <p:nvPr/>
        </p:nvSpPr>
        <p:spPr>
          <a:xfrm>
            <a:off x="6263640" y="2514600"/>
            <a:ext cx="2423160" cy="0"/>
          </a:xfrm>
          <a:prstGeom prst="line">
            <a:avLst/>
          </a:prstGeom>
          <a:noFill/>
          <a:ln w="6350">
            <a:solidFill>
              <a:srgbClr val="1E2A3A"/>
            </a:solidFill>
            <a:prstDash val="solid"/>
          </a:ln>
        </p:spPr>
      </p:sp>
      <p:sp>
        <p:nvSpPr>
          <p:cNvPr id="36" name="Text 34"/>
          <p:cNvSpPr/>
          <p:nvPr/>
        </p:nvSpPr>
        <p:spPr>
          <a:xfrm>
            <a:off x="6236208" y="2578608"/>
            <a:ext cx="2478024"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Call 1: Structured JSON</a:t>
            </a:r>
            <a:endParaRPr lang="en-US" sz="1100" dirty="0"/>
          </a:p>
        </p:txBody>
      </p:sp>
      <p:sp>
        <p:nvSpPr>
          <p:cNvPr id="37" name="Text 35"/>
          <p:cNvSpPr/>
          <p:nvPr/>
        </p:nvSpPr>
        <p:spPr>
          <a:xfrm>
            <a:off x="6236208" y="292608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Schema enforcement</a:t>
            </a:r>
            <a:endParaRPr lang="en-US" sz="1000" dirty="0"/>
          </a:p>
        </p:txBody>
      </p:sp>
      <p:sp>
        <p:nvSpPr>
          <p:cNvPr id="38" name="Shape 36"/>
          <p:cNvSpPr/>
          <p:nvPr/>
        </p:nvSpPr>
        <p:spPr>
          <a:xfrm>
            <a:off x="6263640" y="3520440"/>
            <a:ext cx="2423160" cy="0"/>
          </a:xfrm>
          <a:prstGeom prst="line">
            <a:avLst/>
          </a:prstGeom>
          <a:noFill/>
          <a:ln w="6350">
            <a:solidFill>
              <a:srgbClr val="1E2A3A"/>
            </a:solidFill>
            <a:prstDash val="solid"/>
          </a:ln>
        </p:spPr>
      </p:sp>
      <p:sp>
        <p:nvSpPr>
          <p:cNvPr id="39" name="Text 37"/>
          <p:cNvSpPr/>
          <p:nvPr/>
        </p:nvSpPr>
        <p:spPr>
          <a:xfrm>
            <a:off x="6236208" y="3584448"/>
            <a:ext cx="2478024"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Call 2: SSE Stream</a:t>
            </a:r>
            <a:endParaRPr lang="en-US" sz="1100" dirty="0"/>
          </a:p>
        </p:txBody>
      </p:sp>
      <p:sp>
        <p:nvSpPr>
          <p:cNvPr id="40" name="Text 38"/>
          <p:cNvSpPr/>
          <p:nvPr/>
        </p:nvSpPr>
        <p:spPr>
          <a:xfrm>
            <a:off x="6236208" y="393192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Token-by-token narrative</a:t>
            </a:r>
            <a:endParaRPr lang="en-US" sz="1000" dirty="0"/>
          </a:p>
        </p:txBody>
      </p:sp>
      <p:sp>
        <p:nvSpPr>
          <p:cNvPr id="41" name="Shape 39"/>
          <p:cNvSpPr/>
          <p:nvPr/>
        </p:nvSpPr>
        <p:spPr>
          <a:xfrm>
            <a:off x="6263640" y="4526280"/>
            <a:ext cx="2423160" cy="0"/>
          </a:xfrm>
          <a:prstGeom prst="line">
            <a:avLst/>
          </a:prstGeom>
          <a:noFill/>
          <a:ln w="6350">
            <a:solidFill>
              <a:srgbClr val="1E2A3A"/>
            </a:solidFill>
            <a:prstDash val="solid"/>
          </a:ln>
        </p:spPr>
      </p:sp>
      <p:sp>
        <p:nvSpPr>
          <p:cNvPr id="42" name="Text 40"/>
          <p:cNvSpPr/>
          <p:nvPr/>
        </p:nvSpPr>
        <p:spPr>
          <a:xfrm>
            <a:off x="6236208" y="4590288"/>
            <a:ext cx="2478024"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Python math → Claude context</a:t>
            </a:r>
            <a:endParaRPr lang="en-US" sz="1100" dirty="0"/>
          </a:p>
        </p:txBody>
      </p:sp>
      <p:sp>
        <p:nvSpPr>
          <p:cNvPr id="43" name="Text 41"/>
          <p:cNvSpPr/>
          <p:nvPr/>
        </p:nvSpPr>
        <p:spPr>
          <a:xfrm>
            <a:off x="6236208" y="493776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Not the reverse</a:t>
            </a:r>
            <a:endParaRPr lang="en-US" sz="1000" dirty="0"/>
          </a:p>
        </p:txBody>
      </p:sp>
      <p:sp>
        <p:nvSpPr>
          <p:cNvPr id="44" name="Shape 42"/>
          <p:cNvSpPr/>
          <p:nvPr/>
        </p:nvSpPr>
        <p:spPr>
          <a:xfrm>
            <a:off x="9006840" y="1005840"/>
            <a:ext cx="2697480" cy="5394960"/>
          </a:xfrm>
          <a:prstGeom prst="rect">
            <a:avLst/>
          </a:prstGeom>
          <a:solidFill>
            <a:srgbClr val="161B27"/>
          </a:solidFill>
          <a:ln w="19050">
            <a:solidFill>
              <a:srgbClr val="1E2A3A"/>
            </a:solidFill>
            <a:prstDash val="solid"/>
          </a:ln>
        </p:spPr>
      </p:sp>
      <p:sp>
        <p:nvSpPr>
          <p:cNvPr id="45" name="Shape 43"/>
          <p:cNvSpPr/>
          <p:nvPr/>
        </p:nvSpPr>
        <p:spPr>
          <a:xfrm>
            <a:off x="9006840" y="1005840"/>
            <a:ext cx="2697480" cy="384048"/>
          </a:xfrm>
          <a:prstGeom prst="rect">
            <a:avLst/>
          </a:prstGeom>
          <a:solidFill>
            <a:srgbClr val="0D1A2A"/>
          </a:solidFill>
          <a:ln w="12700">
            <a:solidFill>
              <a:srgbClr val="1E2A3A"/>
            </a:solidFill>
            <a:prstDash val="solid"/>
          </a:ln>
        </p:spPr>
      </p:sp>
      <p:sp>
        <p:nvSpPr>
          <p:cNvPr id="46" name="Text 44"/>
          <p:cNvSpPr/>
          <p:nvPr/>
        </p:nvSpPr>
        <p:spPr>
          <a:xfrm>
            <a:off x="9116568" y="1069848"/>
            <a:ext cx="2478024" cy="274320"/>
          </a:xfrm>
          <a:prstGeom prst="rect">
            <a:avLst/>
          </a:prstGeom>
          <a:noFill/>
          <a:ln/>
        </p:spPr>
        <p:txBody>
          <a:bodyPr wrap="square" lIns="0" tIns="0" rIns="0" bIns="0" rtlCol="0" anchor="ctr"/>
          <a:lstStyle/>
          <a:p>
            <a:pPr indent="0" marL="0">
              <a:buNone/>
            </a:pPr>
            <a:r>
              <a:rPr lang="en-US" sz="1200" b="1" dirty="0">
                <a:solidFill>
                  <a:srgbClr val="94A3B8"/>
                </a:solidFill>
                <a:latin typeface="Trebuchet MS" pitchFamily="34" charset="0"/>
                <a:ea typeface="Trebuchet MS" pitchFamily="34" charset="-122"/>
                <a:cs typeface="Trebuchet MS" pitchFamily="34" charset="-120"/>
              </a:rPr>
              <a:t>Data</a:t>
            </a:r>
            <a:endParaRPr lang="en-US" sz="1200" dirty="0"/>
          </a:p>
        </p:txBody>
      </p:sp>
      <p:sp>
        <p:nvSpPr>
          <p:cNvPr id="47" name="Text 45"/>
          <p:cNvSpPr/>
          <p:nvPr/>
        </p:nvSpPr>
        <p:spPr>
          <a:xfrm>
            <a:off x="9116568" y="1572768"/>
            <a:ext cx="2478024"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Mock only (demo)</a:t>
            </a:r>
            <a:endParaRPr lang="en-US" sz="1000" dirty="0"/>
          </a:p>
        </p:txBody>
      </p:sp>
      <p:sp>
        <p:nvSpPr>
          <p:cNvPr id="48" name="Shape 46"/>
          <p:cNvSpPr/>
          <p:nvPr/>
        </p:nvSpPr>
        <p:spPr>
          <a:xfrm>
            <a:off x="9144000" y="2514600"/>
            <a:ext cx="2423160" cy="0"/>
          </a:xfrm>
          <a:prstGeom prst="line">
            <a:avLst/>
          </a:prstGeom>
          <a:noFill/>
          <a:ln w="6350">
            <a:solidFill>
              <a:srgbClr val="1E2A3A"/>
            </a:solidFill>
            <a:prstDash val="solid"/>
          </a:ln>
        </p:spPr>
      </p:sp>
      <p:sp>
        <p:nvSpPr>
          <p:cNvPr id="49" name="Text 47"/>
          <p:cNvSpPr/>
          <p:nvPr/>
        </p:nvSpPr>
        <p:spPr>
          <a:xfrm>
            <a:off x="9116568" y="2578608"/>
            <a:ext cx="2478024"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 properties</a:t>
            </a:r>
            <a:endParaRPr lang="en-US" sz="1000" dirty="0"/>
          </a:p>
        </p:txBody>
      </p:sp>
      <p:sp>
        <p:nvSpPr>
          <p:cNvPr id="50" name="Text 48"/>
          <p:cNvSpPr/>
          <p:nvPr/>
        </p:nvSpPr>
        <p:spPr>
          <a:xfrm>
            <a:off x="9116568" y="292608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488 units</a:t>
            </a:r>
            <a:endParaRPr lang="en-US" sz="1000" dirty="0"/>
          </a:p>
        </p:txBody>
      </p:sp>
      <p:sp>
        <p:nvSpPr>
          <p:cNvPr id="51" name="Shape 49"/>
          <p:cNvSpPr/>
          <p:nvPr/>
        </p:nvSpPr>
        <p:spPr>
          <a:xfrm>
            <a:off x="9144000" y="3520440"/>
            <a:ext cx="2423160" cy="0"/>
          </a:xfrm>
          <a:prstGeom prst="line">
            <a:avLst/>
          </a:prstGeom>
          <a:noFill/>
          <a:ln w="6350">
            <a:solidFill>
              <a:srgbClr val="1E2A3A"/>
            </a:solidFill>
            <a:prstDash val="solid"/>
          </a:ln>
        </p:spPr>
      </p:sp>
      <p:sp>
        <p:nvSpPr>
          <p:cNvPr id="52" name="Text 50"/>
          <p:cNvSpPr/>
          <p:nvPr/>
        </p:nvSpPr>
        <p:spPr>
          <a:xfrm>
            <a:off x="9116568" y="3584448"/>
            <a:ext cx="2478024"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5 applicant presets</a:t>
            </a:r>
            <a:endParaRPr lang="en-US" sz="1000" dirty="0"/>
          </a:p>
        </p:txBody>
      </p:sp>
      <p:sp>
        <p:nvSpPr>
          <p:cNvPr id="53" name="Text 51"/>
          <p:cNvSpPr/>
          <p:nvPr/>
        </p:nvSpPr>
        <p:spPr>
          <a:xfrm>
            <a:off x="9116568" y="393192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All screening scenarios</a:t>
            </a:r>
            <a:endParaRPr lang="en-US" sz="1000" dirty="0"/>
          </a:p>
        </p:txBody>
      </p:sp>
      <p:sp>
        <p:nvSpPr>
          <p:cNvPr id="54" name="Shape 52"/>
          <p:cNvSpPr/>
          <p:nvPr/>
        </p:nvSpPr>
        <p:spPr>
          <a:xfrm>
            <a:off x="9144000" y="4526280"/>
            <a:ext cx="2423160" cy="0"/>
          </a:xfrm>
          <a:prstGeom prst="line">
            <a:avLst/>
          </a:prstGeom>
          <a:noFill/>
          <a:ln w="6350">
            <a:solidFill>
              <a:srgbClr val="1E2A3A"/>
            </a:solidFill>
            <a:prstDash val="solid"/>
          </a:ln>
        </p:spPr>
      </p:sp>
      <p:sp>
        <p:nvSpPr>
          <p:cNvPr id="55" name="Text 53"/>
          <p:cNvSpPr/>
          <p:nvPr/>
        </p:nvSpPr>
        <p:spPr>
          <a:xfrm>
            <a:off x="9116568" y="4590288"/>
            <a:ext cx="2478024"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CBRE Q4 2024</a:t>
            </a:r>
            <a:endParaRPr lang="en-US" sz="1000" dirty="0"/>
          </a:p>
        </p:txBody>
      </p:sp>
      <p:sp>
        <p:nvSpPr>
          <p:cNvPr id="56" name="Text 54"/>
          <p:cNvSpPr/>
          <p:nvPr/>
        </p:nvSpPr>
        <p:spPr>
          <a:xfrm>
            <a:off x="9116568" y="4937760"/>
            <a:ext cx="2478024"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5.20% benchmark cap rate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408676" y="1097280"/>
            <a:ext cx="1371600" cy="347472"/>
          </a:xfrm>
          <a:prstGeom prst="rect">
            <a:avLst/>
          </a:prstGeom>
          <a:solidFill>
            <a:srgbClr val="84CC16"/>
          </a:solidFill>
          <a:ln w="12700">
            <a:solidFill>
              <a:srgbClr val="84CC16"/>
            </a:solidFill>
            <a:prstDash val="solid"/>
          </a:ln>
        </p:spPr>
      </p:sp>
      <p:sp>
        <p:nvSpPr>
          <p:cNvPr id="3" name="Text 1"/>
          <p:cNvSpPr/>
          <p:nvPr/>
        </p:nvSpPr>
        <p:spPr>
          <a:xfrm>
            <a:off x="5408676" y="1097280"/>
            <a:ext cx="1371600" cy="347472"/>
          </a:xfrm>
          <a:prstGeom prst="rect">
            <a:avLst/>
          </a:prstGeom>
          <a:noFill/>
          <a:ln/>
        </p:spPr>
        <p:txBody>
          <a:bodyPr wrap="square" lIns="0" tIns="0" rIns="0" bIns="0" rtlCol="0" anchor="ctr"/>
          <a:lstStyle/>
          <a:p>
            <a:pPr algn="ctr" indent="0" marL="0">
              <a:buNone/>
            </a:pPr>
            <a:r>
              <a:rPr lang="en-US" sz="1100" b="1" dirty="0">
                <a:solidFill>
                  <a:srgbClr val="000000"/>
                </a:solidFill>
                <a:latin typeface="Trebuchet MS" pitchFamily="34" charset="0"/>
                <a:ea typeface="Trebuchet MS" pitchFamily="34" charset="-122"/>
                <a:cs typeface="Trebuchet MS" pitchFamily="34" charset="-120"/>
              </a:rPr>
              <a:t>LIVE DEMO</a:t>
            </a:r>
            <a:endParaRPr lang="en-US" sz="1100" dirty="0"/>
          </a:p>
        </p:txBody>
      </p:sp>
      <p:sp>
        <p:nvSpPr>
          <p:cNvPr id="4" name="Text 2"/>
          <p:cNvSpPr/>
          <p:nvPr/>
        </p:nvSpPr>
        <p:spPr>
          <a:xfrm>
            <a:off x="457200" y="1645920"/>
            <a:ext cx="11274552" cy="1463040"/>
          </a:xfrm>
          <a:prstGeom prst="rect">
            <a:avLst/>
          </a:prstGeom>
          <a:noFill/>
          <a:ln/>
        </p:spPr>
        <p:txBody>
          <a:bodyPr wrap="square" lIns="0" tIns="0" rIns="0" bIns="0" rtlCol="0" anchor="ctr"/>
          <a:lstStyle/>
          <a:p>
            <a:pPr algn="ctr" indent="0" marL="0">
              <a:buNone/>
            </a:pPr>
            <a:r>
              <a:rPr lang="en-US" sz="7200" b="1" dirty="0">
                <a:solidFill>
                  <a:srgbClr val="84CC16"/>
                </a:solidFill>
                <a:latin typeface="Trebuchet MS" pitchFamily="34" charset="0"/>
                <a:ea typeface="Trebuchet MS" pitchFamily="34" charset="-122"/>
                <a:cs typeface="Trebuchet MS" pitchFamily="34" charset="-120"/>
              </a:rPr>
              <a:t>→</a:t>
            </a:r>
            <a:endParaRPr lang="en-US" sz="7200" dirty="0"/>
          </a:p>
        </p:txBody>
      </p:sp>
      <p:sp>
        <p:nvSpPr>
          <p:cNvPr id="5" name="Text 3"/>
          <p:cNvSpPr/>
          <p:nvPr/>
        </p:nvSpPr>
        <p:spPr>
          <a:xfrm>
            <a:off x="457200" y="3291840"/>
            <a:ext cx="11274552" cy="45720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Dashboard — 488 units · $5.68M NOI · Riverside DSCR alert</a:t>
            </a:r>
            <a:endParaRPr lang="en-US" sz="1600" dirty="0"/>
          </a:p>
        </p:txBody>
      </p:sp>
      <p:sp>
        <p:nvSpPr>
          <p:cNvPr id="6" name="Text 4"/>
          <p:cNvSpPr/>
          <p:nvPr/>
        </p:nvSpPr>
        <p:spPr>
          <a:xfrm>
            <a:off x="457200" y="3840480"/>
            <a:ext cx="11274552" cy="45720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Screening — Sarah Chen · two panels populate simultaneously</a:t>
            </a:r>
            <a:endParaRPr lang="en-US" sz="1600" dirty="0"/>
          </a:p>
        </p:txBody>
      </p:sp>
      <p:sp>
        <p:nvSpPr>
          <p:cNvPr id="7" name="Text 5"/>
          <p:cNvSpPr/>
          <p:nvPr/>
        </p:nvSpPr>
        <p:spPr>
          <a:xfrm>
            <a:off x="457200" y="4389120"/>
            <a:ext cx="11274552" cy="45720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FHA Moment — Rosa Gutierrez · Section 8 · compliance panel fires</a:t>
            </a:r>
            <a:endParaRPr lang="en-US" sz="1600" dirty="0"/>
          </a:p>
        </p:txBody>
      </p:sp>
      <p:sp>
        <p:nvSpPr>
          <p:cNvPr id="8" name="Text 6"/>
          <p:cNvSpPr/>
          <p:nvPr/>
        </p:nvSpPr>
        <p:spPr>
          <a:xfrm>
            <a:off x="457200" y="6446520"/>
            <a:ext cx="11274552" cy="274320"/>
          </a:xfrm>
          <a:prstGeom prst="rect">
            <a:avLst/>
          </a:prstGeom>
          <a:noFill/>
          <a:ln/>
        </p:spPr>
        <p:txBody>
          <a:bodyPr wrap="square" lIns="0" tIns="0" rIns="0" bIns="0" rtlCol="0" anchor="ctr"/>
          <a:lstStyle/>
          <a:p>
            <a:pPr algn="ctr" indent="0" marL="0">
              <a:buNone/>
            </a:pPr>
            <a:r>
              <a:rPr lang="en-US" sz="1000" dirty="0">
                <a:solidFill>
                  <a:srgbClr val="4A5568"/>
                </a:solidFill>
                <a:latin typeface="Calibri" pitchFamily="34" charset="0"/>
                <a:ea typeface="Calibri" pitchFamily="34" charset="-122"/>
                <a:cs typeface="Calibri" pitchFamily="34" charset="-120"/>
              </a:rPr>
              <a:t>backend :8000  ·  frontend :3000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Plaza Intelligence — Residential Asset Management</dc:title>
  <dc:subject>PptxGenJS Presentation</dc:subject>
  <dc:creator>Plaza Intelligence</dc:creator>
  <cp:lastModifiedBy>Plaza Intelligence</cp:lastModifiedBy>
  <cp:revision>1</cp:revision>
  <dcterms:created xsi:type="dcterms:W3CDTF">2026-04-20T01:46:26Z</dcterms:created>
  <dcterms:modified xsi:type="dcterms:W3CDTF">2026-04-20T01:46:26Z</dcterms:modified>
</cp:coreProperties>
</file>